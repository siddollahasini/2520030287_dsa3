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7"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0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0B3A8078-5A32-4B09-ABA5-7ABEFD22E08A}"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18304575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10AE426-CBD1-49BA-A1DA-945CCEE2ED80}" type="datetimeFigureOut">
              <a:rPr lang="en-US" smtClean="0"/>
              <a:t>10/11/2026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0B3A8078-5A32-4B09-ABA5-7ABEFD22E08A}"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90441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390053478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10AE426-CBD1-49BA-A1DA-945CCEE2ED80}" type="datetimeFigureOut">
              <a:rPr lang="en-US" smtClean="0"/>
              <a:t>10/11/2026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36035740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71113045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791847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365324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710AE426-CBD1-49BA-A1DA-945CCEE2ED80}" type="datetimeFigureOut">
              <a:rPr lang="en-US" smtClean="0"/>
              <a:t>10/11/2026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0B3A8078-5A32-4B09-ABA5-7ABEFD22E08A}"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047624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710AE426-CBD1-49BA-A1DA-945CCEE2ED80}" type="datetimeFigureOut">
              <a:rPr lang="en-US" smtClean="0"/>
              <a:t>10/11/2026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0B3A8078-5A32-4B09-ABA5-7ABEFD22E08A}"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485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16536887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710AE426-CBD1-49BA-A1DA-945CCEE2ED80}" type="datetimeFigureOut">
              <a:rPr lang="en-US" smtClean="0"/>
              <a:t>10/11/2026</a:t>
            </a:fld>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6833073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710AE426-CBD1-49BA-A1DA-945CCEE2ED80}" type="datetimeFigureOut">
              <a:rPr lang="en-US" smtClean="0"/>
              <a:t>10/11/2026</a:t>
            </a:fld>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4056198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5062017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429492218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202571120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710AE426-CBD1-49BA-A1DA-945CCEE2ED80}" type="datetimeFigureOut">
              <a:rPr lang="en-US" smtClean="0"/>
              <a:t>10/11/2026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208992310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70212078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710AE426-CBD1-49BA-A1DA-945CCEE2ED80}" type="datetimeFigureOut">
              <a:rPr lang="en-US" smtClean="0"/>
              <a:t>10/11/2026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0B3A8078-5A32-4B09-ABA5-7ABEFD22E08A}" type="slidenum">
              <a:rPr lang="en-US" smtClean="0"/>
              <a:t>‹#›</a:t>
            </a:fld>
            <a:endParaRPr lang="en-US"/>
          </a:p>
        </p:txBody>
      </p:sp>
    </p:spTree>
    <p:extLst>
      <p:ext uri="{BB962C8B-B14F-4D97-AF65-F5344CB8AC3E}">
        <p14:creationId xmlns:p14="http://schemas.microsoft.com/office/powerpoint/2010/main" val="157319739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8330454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10AE426-CBD1-49BA-A1DA-945CCEE2ED80}" type="datetimeFigureOut">
              <a:rPr lang="en-US" smtClean="0"/>
              <a:t>10/11/2026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483491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0B3A8078-5A32-4B09-ABA5-7ABEFD22E08A}"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1401687333"/>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710AE426-CBD1-49BA-A1DA-945CCEE2ED80}" type="datetimeFigureOut">
              <a:rPr lang="en-US" smtClean="0"/>
              <a:t>10/11/2026</a:t>
            </a:fld>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9797306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710AE426-CBD1-49BA-A1DA-945CCEE2ED80}" type="datetimeFigureOut">
              <a:rPr lang="en-US" smtClean="0"/>
              <a:t>10/11/2026</a:t>
            </a:fld>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933082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pPr marL="0" lvl="0" indent="0" algn="l"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422151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710AE426-CBD1-49BA-A1DA-945CCEE2ED80}" type="datetimeFigureOut">
              <a:rPr lang="en-US" smtClean="0"/>
              <a:t>10/11/2026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544199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710AE426-CBD1-49BA-A1DA-945CCEE2ED80}" type="datetimeFigureOut">
              <a:rPr lang="en-US" smtClean="0"/>
              <a:t>10/11/2026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7257116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710AE426-CBD1-49BA-A1DA-945CCEE2ED80}" type="datetimeFigureOut">
              <a:rPr lang="en-US" smtClean="0"/>
              <a:t>10/11/2026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0B3A8078-5A32-4B09-ABA5-7ABEFD22E08A}"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7138436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0AE426-CBD1-49BA-A1DA-945CCEE2ED80}"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50703466"/>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97114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710AE426-CBD1-49BA-A1DA-945CCEE2ED80}" type="datetimeFigureOut">
              <a:rPr lang="en-US" smtClean="0"/>
              <a:t>10/11/2026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0B3A8078-5A32-4B09-ABA5-7ABEFD22E08A}"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045137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1861938" y="1027775"/>
            <a:ext cx="9144000" cy="231670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C00000"/>
              </a:buClr>
              <a:buSzPts val="6000"/>
              <a:buFont typeface="Calibri"/>
              <a:buNone/>
            </a:pPr>
            <a:br>
              <a:rPr lang="en-IN" b="1" dirty="0">
                <a:solidFill>
                  <a:srgbClr val="C00000"/>
                </a:solidFill>
                <a:latin typeface="Calibri"/>
                <a:ea typeface="Calibri"/>
                <a:cs typeface="Calibri"/>
                <a:sym typeface="Calibri"/>
              </a:rPr>
            </a:br>
            <a:br>
              <a:rPr lang="en-IN" b="1" dirty="0">
                <a:solidFill>
                  <a:srgbClr val="C00000"/>
                </a:solidFill>
                <a:latin typeface="Calibri"/>
                <a:ea typeface="Calibri"/>
                <a:cs typeface="Calibri"/>
                <a:sym typeface="Calibri"/>
              </a:rPr>
            </a:br>
            <a:br>
              <a:rPr lang="en-IN" b="1" dirty="0">
                <a:solidFill>
                  <a:srgbClr val="C00000"/>
                </a:solidFill>
                <a:latin typeface="Calibri"/>
                <a:ea typeface="Calibri"/>
                <a:cs typeface="Calibri"/>
                <a:sym typeface="Calibri"/>
              </a:rPr>
            </a:br>
            <a:br>
              <a:rPr lang="en-IN" b="1" dirty="0">
                <a:solidFill>
                  <a:srgbClr val="C00000"/>
                </a:solidFill>
                <a:latin typeface="Calibri"/>
                <a:ea typeface="Calibri"/>
                <a:cs typeface="Calibri"/>
                <a:sym typeface="Calibri"/>
              </a:rPr>
            </a:br>
            <a:br>
              <a:rPr lang="en-IN" b="1" dirty="0">
                <a:solidFill>
                  <a:srgbClr val="C00000"/>
                </a:solidFill>
                <a:latin typeface="Calibri"/>
                <a:ea typeface="Calibri"/>
                <a:cs typeface="Calibri"/>
                <a:sym typeface="Calibri"/>
              </a:rPr>
            </a:br>
            <a:br>
              <a:rPr lang="en-IN" b="1" dirty="0">
                <a:solidFill>
                  <a:srgbClr val="C00000"/>
                </a:solidFill>
                <a:latin typeface="Calibri"/>
                <a:ea typeface="Calibri"/>
                <a:cs typeface="Calibri"/>
                <a:sym typeface="Calibri"/>
              </a:rPr>
            </a:br>
            <a:br>
              <a:rPr lang="en-IN" sz="4000" b="1" dirty="0">
                <a:solidFill>
                  <a:srgbClr val="C00000"/>
                </a:solidFill>
                <a:latin typeface="Calibri"/>
                <a:ea typeface="Calibri"/>
                <a:cs typeface="Calibri"/>
                <a:sym typeface="Calibri"/>
              </a:rPr>
            </a:br>
            <a:r>
              <a:rPr lang="en-IN" sz="3800" b="1" dirty="0">
                <a:solidFill>
                  <a:srgbClr val="B01010"/>
                </a:solidFill>
                <a:latin typeface="Calibri"/>
                <a:ea typeface="Calibri"/>
                <a:cs typeface="Calibri"/>
                <a:sym typeface="Calibri"/>
              </a:rPr>
              <a:t>Data Structures and Algorithms -3 </a:t>
            </a:r>
            <a:r>
              <a:rPr lang="en-IN" sz="3300" b="1" dirty="0">
                <a:solidFill>
                  <a:srgbClr val="B01010"/>
                </a:solidFill>
                <a:latin typeface="Calibri"/>
                <a:ea typeface="Calibri"/>
                <a:cs typeface="Calibri"/>
                <a:sym typeface="Calibri"/>
              </a:rPr>
              <a:t>(25CS2103E)</a:t>
            </a:r>
            <a:br>
              <a:rPr lang="en-IN" sz="4000" b="1" dirty="0">
                <a:solidFill>
                  <a:srgbClr val="B01010"/>
                </a:solidFill>
                <a:latin typeface="Calibri"/>
                <a:ea typeface="Calibri"/>
                <a:cs typeface="Calibri"/>
                <a:sym typeface="Calibri"/>
              </a:rPr>
            </a:br>
            <a:r>
              <a:rPr lang="en-IN" sz="4000" b="1" dirty="0"/>
              <a:t>Global DNA and Protein Sequence Alignment Using the Needleman–Wunsch Algorithm </a:t>
            </a:r>
            <a:endParaRPr sz="4000" b="1" dirty="0">
              <a:latin typeface="Calibri"/>
              <a:ea typeface="Calibri"/>
              <a:cs typeface="Calibri"/>
              <a:sym typeface="Calibri"/>
            </a:endParaRPr>
          </a:p>
        </p:txBody>
      </p:sp>
      <p:sp>
        <p:nvSpPr>
          <p:cNvPr id="84" name="Google Shape;84;p13"/>
          <p:cNvSpPr txBox="1">
            <a:spLocks noGrp="1"/>
          </p:cNvSpPr>
          <p:nvPr>
            <p:ph type="subTitle" idx="1"/>
          </p:nvPr>
        </p:nvSpPr>
        <p:spPr>
          <a:xfrm>
            <a:off x="3178780" y="3550395"/>
            <a:ext cx="5316292" cy="1396014"/>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70C0"/>
              </a:buClr>
              <a:buSzPts val="2400"/>
              <a:buNone/>
            </a:pPr>
            <a:r>
              <a:rPr lang="en-IN" dirty="0">
                <a:solidFill>
                  <a:schemeClr val="tx1"/>
                </a:solidFill>
              </a:rPr>
              <a:t>Team Members</a:t>
            </a:r>
            <a:endParaRPr dirty="0">
              <a:solidFill>
                <a:schemeClr val="tx1"/>
              </a:solidFill>
            </a:endParaRPr>
          </a:p>
          <a:p>
            <a:pPr marL="0" lvl="0" indent="0" algn="ctr" rtl="0">
              <a:lnSpc>
                <a:spcPct val="90000"/>
              </a:lnSpc>
              <a:spcBef>
                <a:spcPts val="1000"/>
              </a:spcBef>
              <a:spcAft>
                <a:spcPts val="0"/>
              </a:spcAft>
              <a:buClr>
                <a:srgbClr val="0070C0"/>
              </a:buClr>
              <a:buSzPts val="2400"/>
              <a:buNone/>
            </a:pPr>
            <a:r>
              <a:rPr lang="en-IN" dirty="0">
                <a:solidFill>
                  <a:schemeClr val="tx1"/>
                </a:solidFill>
              </a:rPr>
              <a:t>Name: S.Hasini Reddy(2520030287)</a:t>
            </a:r>
            <a:endParaRPr dirty="0">
              <a:solidFill>
                <a:schemeClr val="tx1"/>
              </a:solidFill>
            </a:endParaRPr>
          </a:p>
          <a:p>
            <a:pPr marL="0" lvl="0" indent="0" algn="ctr" rtl="0">
              <a:lnSpc>
                <a:spcPct val="90000"/>
              </a:lnSpc>
              <a:spcBef>
                <a:spcPts val="1000"/>
              </a:spcBef>
              <a:spcAft>
                <a:spcPts val="0"/>
              </a:spcAft>
              <a:buClr>
                <a:srgbClr val="0070C0"/>
              </a:buClr>
              <a:buSzPts val="2400"/>
              <a:buNone/>
            </a:pPr>
            <a:r>
              <a:rPr lang="en-IN" dirty="0">
                <a:solidFill>
                  <a:schemeClr val="tx1"/>
                </a:solidFill>
              </a:rPr>
              <a:t>Name: Anushka Kulkarni(2520030501)</a:t>
            </a:r>
            <a:endParaRPr dirty="0">
              <a:solidFill>
                <a:schemeClr val="tx1"/>
              </a:solidFill>
            </a:endParaRPr>
          </a:p>
          <a:p>
            <a:pPr marL="0" lvl="0" indent="0" algn="ctr" rtl="0">
              <a:lnSpc>
                <a:spcPct val="90000"/>
              </a:lnSpc>
              <a:spcBef>
                <a:spcPts val="1000"/>
              </a:spcBef>
              <a:spcAft>
                <a:spcPts val="0"/>
              </a:spcAft>
              <a:buClr>
                <a:srgbClr val="0070C0"/>
              </a:buClr>
              <a:buSzPts val="2400"/>
              <a:buNone/>
            </a:pPr>
            <a:r>
              <a:rPr lang="en-IN" dirty="0">
                <a:solidFill>
                  <a:schemeClr val="tx1"/>
                </a:solidFill>
              </a:rPr>
              <a:t>Name: Akshaya minnekanti (2520030516)</a:t>
            </a:r>
            <a:endParaRPr dirty="0">
              <a:solidFill>
                <a:schemeClr val="tx1"/>
              </a:solidFill>
            </a:endParaRPr>
          </a:p>
          <a:p>
            <a:pPr marL="171450" lvl="0" indent="0" algn="ctr" rtl="0">
              <a:lnSpc>
                <a:spcPct val="107000"/>
              </a:lnSpc>
              <a:spcBef>
                <a:spcPts val="1800"/>
              </a:spcBef>
              <a:spcAft>
                <a:spcPts val="0"/>
              </a:spcAft>
              <a:buClr>
                <a:srgbClr val="000000"/>
              </a:buClr>
              <a:buSzPts val="1800"/>
              <a:buNone/>
            </a:pPr>
            <a:endParaRPr lang="en-IN" sz="1800" dirty="0">
              <a:solidFill>
                <a:srgbClr val="000000"/>
              </a:solidFill>
              <a:latin typeface="Times New Roman"/>
              <a:ea typeface="Times New Roman"/>
              <a:cs typeface="Times New Roman"/>
              <a:sym typeface="Times New Roman"/>
            </a:endParaRPr>
          </a:p>
          <a:p>
            <a:pPr marL="171450" lvl="0" indent="0" algn="ctr" rtl="0">
              <a:lnSpc>
                <a:spcPct val="107000"/>
              </a:lnSpc>
              <a:spcBef>
                <a:spcPts val="1800"/>
              </a:spcBef>
              <a:spcAft>
                <a:spcPts val="0"/>
              </a:spcAft>
              <a:buClr>
                <a:srgbClr val="000000"/>
              </a:buClr>
              <a:buSzPts val="1800"/>
              <a:buNone/>
            </a:pPr>
            <a:r>
              <a:rPr lang="en-IN" sz="1800" b="1" dirty="0">
                <a:solidFill>
                  <a:schemeClr val="tx1"/>
                </a:solidFill>
                <a:latin typeface="Times New Roman"/>
                <a:ea typeface="Times New Roman"/>
                <a:cs typeface="Times New Roman"/>
                <a:sym typeface="Times New Roman"/>
              </a:rPr>
              <a:t>Under the Esteemed Guidance of</a:t>
            </a:r>
            <a:endParaRPr b="1" dirty="0">
              <a:solidFill>
                <a:schemeClr val="tx1"/>
              </a:solidFill>
            </a:endParaRPr>
          </a:p>
          <a:p>
            <a:pPr marL="171450" lvl="0" indent="0" algn="ctr" rtl="0">
              <a:lnSpc>
                <a:spcPct val="107000"/>
              </a:lnSpc>
              <a:spcBef>
                <a:spcPts val="1800"/>
              </a:spcBef>
              <a:spcAft>
                <a:spcPts val="0"/>
              </a:spcAft>
              <a:buClr>
                <a:srgbClr val="000000"/>
              </a:buClr>
              <a:buSzPts val="1800"/>
              <a:buNone/>
            </a:pPr>
            <a:r>
              <a:rPr lang="en-IN" sz="1800" b="1" dirty="0">
                <a:solidFill>
                  <a:schemeClr val="tx1"/>
                </a:solidFill>
                <a:latin typeface="Times New Roman"/>
                <a:ea typeface="Times New Roman"/>
                <a:cs typeface="Times New Roman"/>
                <a:sym typeface="Times New Roman"/>
              </a:rPr>
              <a:t>Dr. Yamini Devi</a:t>
            </a:r>
            <a:endParaRPr b="1" dirty="0">
              <a:solidFill>
                <a:schemeClr val="tx1"/>
              </a:solidFill>
            </a:endParaRPr>
          </a:p>
          <a:p>
            <a:pPr marL="0" lvl="0" indent="0" algn="ctr" rtl="0">
              <a:lnSpc>
                <a:spcPct val="90000"/>
              </a:lnSpc>
              <a:spcBef>
                <a:spcPts val="1800"/>
              </a:spcBef>
              <a:spcAft>
                <a:spcPts val="0"/>
              </a:spcAft>
              <a:buClr>
                <a:schemeClr val="dk1"/>
              </a:buClr>
              <a:buSzPts val="2400"/>
              <a:buNone/>
            </a:pPr>
            <a:endParaRPr b="1" dirty="0">
              <a:solidFill>
                <a:srgbClr val="C00000"/>
              </a:solidFill>
            </a:endParaRPr>
          </a:p>
        </p:txBody>
      </p:sp>
      <p:pic>
        <p:nvPicPr>
          <p:cNvPr id="2" name="Picture 1" descr="KLH Bowrampet Campus | Top Engineering College in Hyderabad">
            <a:extLst>
              <a:ext uri="{FF2B5EF4-FFF2-40B4-BE49-F238E27FC236}">
                <a16:creationId xmlns:a16="http://schemas.microsoft.com/office/drawing/2014/main" id="{FF642C43-A064-BFB7-025F-C36A6C12D719}"/>
              </a:ext>
            </a:extLst>
          </p:cNvPr>
          <p:cNvPicPr>
            <a:picLocks noChangeAspect="1"/>
          </p:cNvPicPr>
          <p:nvPr/>
        </p:nvPicPr>
        <p:blipFill>
          <a:blip r:embed="rId3"/>
          <a:srcRect t="36067"/>
          <a:stretch>
            <a:fillRect/>
          </a:stretch>
        </p:blipFill>
        <p:spPr>
          <a:xfrm>
            <a:off x="1" y="0"/>
            <a:ext cx="2536722" cy="12054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678277" y="1189906"/>
            <a:ext cx="6936386" cy="583557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rgbClr val="000000"/>
              </a:buClr>
              <a:buSzPts val="3200"/>
              <a:buFont typeface="Arial"/>
              <a:buChar char="•"/>
            </a:pPr>
            <a:r>
              <a:rPr lang="en-IN" sz="3200" b="0" i="0" u="none" strike="noStrike" dirty="0">
                <a:latin typeface="Calibri"/>
                <a:ea typeface="Calibri"/>
                <a:cs typeface="Calibri"/>
                <a:sym typeface="Calibri"/>
              </a:rPr>
              <a:t>Abstract</a:t>
            </a:r>
            <a:endParaRPr dirty="0"/>
          </a:p>
          <a:p>
            <a:pPr marL="457200" marR="0" lvl="0" indent="-457200" algn="l" rtl="0">
              <a:lnSpc>
                <a:spcPct val="150000"/>
              </a:lnSpc>
              <a:spcBef>
                <a:spcPts val="0"/>
              </a:spcBef>
              <a:spcAft>
                <a:spcPts val="0"/>
              </a:spcAft>
              <a:buClr>
                <a:srgbClr val="000000"/>
              </a:buClr>
              <a:buSzPts val="3200"/>
              <a:buFont typeface="Arial"/>
              <a:buChar char="•"/>
            </a:pPr>
            <a:r>
              <a:rPr lang="en-IN" sz="3200" b="0" i="0" u="none" strike="noStrike" dirty="0">
                <a:latin typeface="Calibri"/>
                <a:ea typeface="Calibri"/>
                <a:cs typeface="Calibri"/>
                <a:sym typeface="Calibri"/>
              </a:rPr>
              <a:t>Introduction</a:t>
            </a:r>
            <a:endParaRPr sz="3200" b="0" i="0" u="none" strike="noStrike" dirty="0">
              <a:latin typeface="Arial"/>
              <a:ea typeface="Arial"/>
              <a:cs typeface="Arial"/>
              <a:sym typeface="Arial"/>
            </a:endParaRPr>
          </a:p>
          <a:p>
            <a:pPr marL="457200" marR="0" lvl="0" indent="-457200" algn="l" rtl="0">
              <a:lnSpc>
                <a:spcPct val="150000"/>
              </a:lnSpc>
              <a:spcBef>
                <a:spcPts val="0"/>
              </a:spcBef>
              <a:spcAft>
                <a:spcPts val="0"/>
              </a:spcAft>
              <a:buClr>
                <a:srgbClr val="000000"/>
              </a:buClr>
              <a:buSzPts val="3200"/>
              <a:buFont typeface="Arial"/>
              <a:buChar char="•"/>
            </a:pPr>
            <a:r>
              <a:rPr lang="en-IN" sz="3200" b="0" i="0" u="none" strike="noStrike" dirty="0">
                <a:latin typeface="Calibri"/>
                <a:ea typeface="Calibri"/>
                <a:cs typeface="Calibri"/>
                <a:sym typeface="Calibri"/>
              </a:rPr>
              <a:t>Literature survey</a:t>
            </a:r>
            <a:endParaRPr sz="3200" b="0" i="0" u="none" strike="noStrike" dirty="0">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IN" sz="3200" b="0" i="0" u="none" strike="noStrike" dirty="0">
                <a:latin typeface="Calibri"/>
                <a:ea typeface="Calibri"/>
                <a:cs typeface="Calibri"/>
                <a:sym typeface="Calibri"/>
              </a:rPr>
              <a:t>Problem Statement and Objectives</a:t>
            </a:r>
            <a:endParaRPr sz="3200" b="0" i="0" u="none" strike="noStrike" dirty="0">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IN" sz="3200" b="0" i="0" u="none" strike="noStrike" dirty="0">
                <a:latin typeface="Calibri"/>
                <a:ea typeface="Calibri"/>
                <a:cs typeface="Calibri"/>
                <a:sym typeface="Calibri"/>
              </a:rPr>
              <a:t>Hardware and Software requirements</a:t>
            </a:r>
            <a:endParaRPr sz="3200" b="0" i="0" u="none" strike="noStrike" dirty="0">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IN" sz="3200" b="0" i="0" u="none" strike="noStrike" dirty="0">
                <a:latin typeface="Calibri"/>
                <a:ea typeface="Calibri"/>
                <a:cs typeface="Calibri"/>
                <a:sym typeface="Calibri"/>
              </a:rPr>
              <a:t>Results</a:t>
            </a:r>
            <a:endParaRPr sz="3200" b="0" i="0" u="none" strike="noStrike" dirty="0">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IN" sz="3200" b="0" i="0" u="none" strike="noStrike" dirty="0">
                <a:latin typeface="Calibri"/>
                <a:ea typeface="Calibri"/>
                <a:cs typeface="Calibri"/>
                <a:sym typeface="Calibri"/>
              </a:rPr>
              <a:t>Conclusion </a:t>
            </a:r>
            <a:endParaRPr dirty="0"/>
          </a:p>
          <a:p>
            <a:pPr marL="457200" marR="0" lvl="0" indent="-457200" algn="l" rtl="0">
              <a:lnSpc>
                <a:spcPct val="107000"/>
              </a:lnSpc>
              <a:spcBef>
                <a:spcPts val="800"/>
              </a:spcBef>
              <a:spcAft>
                <a:spcPts val="0"/>
              </a:spcAft>
              <a:buClr>
                <a:srgbClr val="000000"/>
              </a:buClr>
              <a:buSzPts val="3200"/>
              <a:buFont typeface="Arial"/>
              <a:buChar char="•"/>
            </a:pPr>
            <a:r>
              <a:rPr lang="en-IN" sz="3200" b="0" i="0" u="none" strike="noStrike" dirty="0">
                <a:latin typeface="Calibri"/>
                <a:ea typeface="Calibri"/>
                <a:cs typeface="Calibri"/>
                <a:sym typeface="Calibri"/>
              </a:rPr>
              <a:t>Future Scope </a:t>
            </a:r>
            <a:endParaRPr sz="3200" b="0" i="0" u="none" strike="noStrike" dirty="0">
              <a:latin typeface="Arial"/>
              <a:ea typeface="Arial"/>
              <a:cs typeface="Arial"/>
              <a:sym typeface="Arial"/>
            </a:endParaRPr>
          </a:p>
          <a:p>
            <a:pPr marL="0" marR="0" lvl="0" indent="0" algn="l" rtl="0">
              <a:spcBef>
                <a:spcPts val="800"/>
              </a:spcBef>
              <a:spcAft>
                <a:spcPts val="0"/>
              </a:spcAft>
              <a:buNone/>
            </a:pPr>
            <a:endParaRPr sz="1800" dirty="0">
              <a:solidFill>
                <a:schemeClr val="dk1"/>
              </a:solidFill>
              <a:latin typeface="Calibri"/>
              <a:ea typeface="Calibri"/>
              <a:cs typeface="Calibri"/>
              <a:sym typeface="Calibri"/>
            </a:endParaRPr>
          </a:p>
        </p:txBody>
      </p:sp>
      <p:sp>
        <p:nvSpPr>
          <p:cNvPr id="90" name="Google Shape;90;p14"/>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 name="Google Shape;91;p14"/>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Contents</a:t>
            </a:r>
            <a:endParaRPr/>
          </a:p>
        </p:txBody>
      </p:sp>
      <p:pic>
        <p:nvPicPr>
          <p:cNvPr id="2" name="Picture 1" descr="KLH Bowrampet Campus | Top Engineering College in Hyderabad">
            <a:extLst>
              <a:ext uri="{FF2B5EF4-FFF2-40B4-BE49-F238E27FC236}">
                <a16:creationId xmlns:a16="http://schemas.microsoft.com/office/drawing/2014/main" id="{BDF1981B-3AC0-FCF4-9E03-0E46978521C8}"/>
              </a:ext>
            </a:extLst>
          </p:cNvPr>
          <p:cNvPicPr>
            <a:picLocks noChangeAspect="1"/>
          </p:cNvPicPr>
          <p:nvPr/>
        </p:nvPicPr>
        <p:blipFill>
          <a:blip r:embed="rId3"/>
          <a:srcRect t="35076"/>
          <a:stretch>
            <a:fillRect/>
          </a:stretch>
        </p:blipFill>
        <p:spPr>
          <a:xfrm>
            <a:off x="144873" y="36537"/>
            <a:ext cx="2124760" cy="10253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5"/>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Abstract</a:t>
            </a:r>
            <a:endParaRPr/>
          </a:p>
        </p:txBody>
      </p:sp>
      <p:sp>
        <p:nvSpPr>
          <p:cNvPr id="98" name="Google Shape;98;p15"/>
          <p:cNvSpPr txBox="1"/>
          <p:nvPr/>
        </p:nvSpPr>
        <p:spPr>
          <a:xfrm>
            <a:off x="1651518" y="1822244"/>
            <a:ext cx="8453400" cy="4431942"/>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IN" sz="2400" dirty="0">
                <a:ea typeface="Calibri"/>
                <a:cs typeface="Calibri"/>
                <a:sym typeface="Calibri"/>
              </a:rPr>
              <a:t>This project develops a bioinformatics application for global sequence alignment using the Needleman–Wunsch algorithm. The application compares DNA and protein sequences to determine their optimal alignment using dynamic programming, scoring methods, and gap penalties. It calculates alignment scores, identifies matched and mismatched regions, and displays the aligned sequences. The project demonstrates the practical use of dynamic programming and sequence-processing techniques in solving real-world computational biology problems.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3" name="Picture 2" descr="KLH Bowrampet Campus | Top Engineering College in Hyderabad">
            <a:extLst>
              <a:ext uri="{FF2B5EF4-FFF2-40B4-BE49-F238E27FC236}">
                <a16:creationId xmlns:a16="http://schemas.microsoft.com/office/drawing/2014/main" id="{94118DA0-EEB2-F541-2352-7336458F6D72}"/>
              </a:ext>
            </a:extLst>
          </p:cNvPr>
          <p:cNvPicPr>
            <a:picLocks noChangeAspect="1"/>
          </p:cNvPicPr>
          <p:nvPr/>
        </p:nvPicPr>
        <p:blipFill>
          <a:blip r:embed="rId3"/>
          <a:srcRect t="35076"/>
          <a:stretch>
            <a:fillRect/>
          </a:stretch>
        </p:blipFill>
        <p:spPr>
          <a:xfrm>
            <a:off x="144873" y="36537"/>
            <a:ext cx="2308132" cy="11138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 name="Google Shape;104;p16"/>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Introduction</a:t>
            </a:r>
            <a:endParaRPr/>
          </a:p>
        </p:txBody>
      </p:sp>
      <p:sp>
        <p:nvSpPr>
          <p:cNvPr id="105" name="Google Shape;105;p16"/>
          <p:cNvSpPr txBox="1"/>
          <p:nvPr/>
        </p:nvSpPr>
        <p:spPr>
          <a:xfrm>
            <a:off x="1610699" y="1581894"/>
            <a:ext cx="9480000" cy="44319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dirty="0">
                <a:ea typeface="Calibri"/>
                <a:cs typeface="Calibri"/>
                <a:sym typeface="Calibri"/>
              </a:rPr>
              <a:t>Sequence alignment is an important concept in bioinformatics used to compare DNA and protein sequences and identify similarities between them. This project implements the </a:t>
            </a:r>
            <a:r>
              <a:rPr lang="en-IN" sz="2400" b="1" dirty="0">
                <a:ea typeface="Calibri"/>
                <a:cs typeface="Calibri"/>
                <a:sym typeface="Calibri"/>
              </a:rPr>
              <a:t>Needleman–Wunsch algorithm</a:t>
            </a:r>
            <a:r>
              <a:rPr lang="en-IN" sz="2400" dirty="0">
                <a:ea typeface="Calibri"/>
                <a:cs typeface="Calibri"/>
                <a:sym typeface="Calibri"/>
              </a:rPr>
              <a:t> to perform global sequence alignment using </a:t>
            </a:r>
            <a:r>
              <a:rPr lang="en-IN" sz="2400" b="1" dirty="0">
                <a:ea typeface="Calibri"/>
                <a:cs typeface="Calibri"/>
                <a:sym typeface="Calibri"/>
              </a:rPr>
              <a:t>dynamic programming</a:t>
            </a:r>
            <a:r>
              <a:rPr lang="en-IN" sz="2400" dirty="0">
                <a:ea typeface="Calibri"/>
                <a:cs typeface="Calibri"/>
                <a:sym typeface="Calibri"/>
              </a:rPr>
              <a:t>. The system compares two biological sequences by considering matches, mismatches, and gap penalties to find the optimal alignment. It also calculates the alignment score and displays the aligned sequences, demonstrating how </a:t>
            </a:r>
            <a:r>
              <a:rPr lang="en-IN" sz="2400" b="1" dirty="0">
                <a:ea typeface="Calibri"/>
                <a:cs typeface="Calibri"/>
                <a:sym typeface="Calibri"/>
              </a:rPr>
              <a:t>Data Structures and Algorithms concepts</a:t>
            </a:r>
            <a:r>
              <a:rPr lang="en-IN" sz="2400" dirty="0">
                <a:ea typeface="Calibri"/>
                <a:cs typeface="Calibri"/>
                <a:sym typeface="Calibri"/>
              </a:rPr>
              <a:t> can be applied to solve real-world computational biology problems.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3" name="Picture 2" descr="KLH Bowrampet Campus | Top Engineering College in Hyderabad">
            <a:extLst>
              <a:ext uri="{FF2B5EF4-FFF2-40B4-BE49-F238E27FC236}">
                <a16:creationId xmlns:a16="http://schemas.microsoft.com/office/drawing/2014/main" id="{7868EFF9-AF56-DE18-75EA-44FA0BD9A374}"/>
              </a:ext>
            </a:extLst>
          </p:cNvPr>
          <p:cNvPicPr>
            <a:picLocks noChangeAspect="1"/>
          </p:cNvPicPr>
          <p:nvPr/>
        </p:nvPicPr>
        <p:blipFill>
          <a:blip r:embed="rId3"/>
          <a:srcRect t="35076"/>
          <a:stretch>
            <a:fillRect/>
          </a:stretch>
        </p:blipFill>
        <p:spPr>
          <a:xfrm>
            <a:off x="144872" y="36537"/>
            <a:ext cx="2247007" cy="10843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17"/>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Literature Survey</a:t>
            </a:r>
            <a:endParaRPr/>
          </a:p>
        </p:txBody>
      </p:sp>
      <p:sp>
        <p:nvSpPr>
          <p:cNvPr id="112" name="Google Shape;112;p17"/>
          <p:cNvSpPr txBox="1">
            <a:spLocks noGrp="1"/>
          </p:cNvSpPr>
          <p:nvPr>
            <p:ph type="title"/>
          </p:nvPr>
        </p:nvSpPr>
        <p:spPr>
          <a:xfrm>
            <a:off x="762000" y="1592827"/>
            <a:ext cx="11430000" cy="5694000"/>
          </a:xfrm>
          <a:prstGeom prst="rect">
            <a:avLst/>
          </a:prstGeom>
          <a:noFill/>
          <a:ln>
            <a:noFill/>
          </a:ln>
        </p:spPr>
        <p:txBody>
          <a:bodyPr spcFirstLastPara="1" wrap="square" lIns="91425" tIns="45700" rIns="91425" bIns="45700" anchor="t" anchorCtr="0">
            <a:noAutofit/>
          </a:bodyPr>
          <a:lstStyle/>
          <a:p>
            <a:pPr marL="457200" lvl="0" indent="-381000" algn="l" rtl="0">
              <a:lnSpc>
                <a:spcPct val="115000"/>
              </a:lnSpc>
              <a:spcBef>
                <a:spcPts val="1200"/>
              </a:spcBef>
              <a:spcAft>
                <a:spcPts val="0"/>
              </a:spcAft>
              <a:buSzPts val="2400"/>
              <a:buFont typeface="Calibri"/>
              <a:buChar char="●"/>
            </a:pPr>
            <a:r>
              <a:rPr lang="en-IN" sz="2400" dirty="0">
                <a:latin typeface="Century Gothic\"/>
              </a:rPr>
              <a:t>Sequence alignment is an important technique in bioinformatics used to compare DNA, RNA, and protein sequences.</a:t>
            </a:r>
            <a:endParaRPr sz="2400" dirty="0">
              <a:latin typeface="Century Gothic\"/>
            </a:endParaRPr>
          </a:p>
          <a:p>
            <a:pPr marL="457200" lvl="0" indent="-381000" algn="l" rtl="0">
              <a:lnSpc>
                <a:spcPct val="115000"/>
              </a:lnSpc>
              <a:spcBef>
                <a:spcPts val="0"/>
              </a:spcBef>
              <a:spcAft>
                <a:spcPts val="0"/>
              </a:spcAft>
              <a:buSzPts val="2400"/>
              <a:buFont typeface="Calibri"/>
              <a:buChar char="●"/>
            </a:pPr>
            <a:r>
              <a:rPr lang="en-IN" sz="2400" dirty="0">
                <a:latin typeface="Century Gothic\"/>
              </a:rPr>
              <a:t>Alignment helps identify similarities, differences, and evolutionary relationships between biological sequences.</a:t>
            </a:r>
            <a:endParaRPr sz="2400" dirty="0">
              <a:latin typeface="Century Gothic\"/>
            </a:endParaRPr>
          </a:p>
          <a:p>
            <a:pPr marL="457200" lvl="0" indent="-381000" algn="l" rtl="0">
              <a:lnSpc>
                <a:spcPct val="115000"/>
              </a:lnSpc>
              <a:spcBef>
                <a:spcPts val="0"/>
              </a:spcBef>
              <a:spcAft>
                <a:spcPts val="0"/>
              </a:spcAft>
              <a:buSzPts val="2400"/>
              <a:buFont typeface="Arial"/>
              <a:buChar char="●"/>
            </a:pPr>
            <a:r>
              <a:rPr lang="en-IN" sz="2400" dirty="0">
                <a:latin typeface="Century Gothic\"/>
              </a:rPr>
              <a:t>The Needleman–Wunsch algorithm is a classical algorithm used for global sequence alignment.</a:t>
            </a:r>
            <a:endParaRPr sz="2400" dirty="0">
              <a:latin typeface="Century Gothic\"/>
            </a:endParaRPr>
          </a:p>
          <a:p>
            <a:pPr marL="457200" lvl="0" indent="-381000" algn="l" rtl="0">
              <a:lnSpc>
                <a:spcPct val="115000"/>
              </a:lnSpc>
              <a:spcBef>
                <a:spcPts val="0"/>
              </a:spcBef>
              <a:spcAft>
                <a:spcPts val="0"/>
              </a:spcAft>
              <a:buSzPts val="2400"/>
              <a:buFont typeface="Arial"/>
              <a:buChar char="●"/>
            </a:pPr>
            <a:r>
              <a:rPr lang="en-IN" sz="2400" dirty="0">
                <a:latin typeface="Century Gothic\"/>
              </a:rPr>
              <a:t>It uses Dynamic Programming to find the optimal alignment between two sequences.</a:t>
            </a:r>
            <a:endParaRPr sz="2400" dirty="0">
              <a:latin typeface="Century Gothic\"/>
            </a:endParaRPr>
          </a:p>
          <a:p>
            <a:pPr marL="457200" lvl="0" indent="-381000" algn="l" rtl="0">
              <a:lnSpc>
                <a:spcPct val="115000"/>
              </a:lnSpc>
              <a:spcBef>
                <a:spcPts val="0"/>
              </a:spcBef>
              <a:spcAft>
                <a:spcPts val="0"/>
              </a:spcAft>
              <a:buSzPts val="2400"/>
              <a:buFont typeface="Calibri"/>
              <a:buChar char="●"/>
            </a:pPr>
            <a:r>
              <a:rPr lang="en-IN" sz="2400" dirty="0">
                <a:latin typeface="Century Gothic\"/>
              </a:rPr>
              <a:t>The algorithm considers matches, mismatches, and gaps using a scoring system.</a:t>
            </a:r>
            <a:endParaRPr sz="2400" dirty="0">
              <a:latin typeface="Century Gothic\"/>
            </a:endParaRPr>
          </a:p>
          <a:p>
            <a:pPr marL="457200" lvl="0" indent="-381000" algn="l" rtl="0">
              <a:lnSpc>
                <a:spcPct val="115000"/>
              </a:lnSpc>
              <a:spcBef>
                <a:spcPts val="0"/>
              </a:spcBef>
              <a:spcAft>
                <a:spcPts val="0"/>
              </a:spcAft>
              <a:buSzPts val="2400"/>
              <a:buFont typeface="Calibri"/>
              <a:buChar char="●"/>
            </a:pPr>
            <a:r>
              <a:rPr lang="en-IN" sz="2400" dirty="0">
                <a:latin typeface="Century Gothic\"/>
              </a:rPr>
              <a:t>A scoring matrix is constructed and then traced back to obtain the optimal alignment.</a:t>
            </a:r>
            <a:endParaRPr sz="2400" dirty="0">
              <a:latin typeface="Century Gothic\"/>
            </a:endParaRPr>
          </a:p>
          <a:p>
            <a:pPr marL="457200" lvl="0" indent="-381000" algn="l" rtl="0">
              <a:lnSpc>
                <a:spcPct val="115000"/>
              </a:lnSpc>
              <a:spcBef>
                <a:spcPts val="0"/>
              </a:spcBef>
              <a:spcAft>
                <a:spcPts val="0"/>
              </a:spcAft>
              <a:buSzPts val="2400"/>
              <a:buFont typeface="Calibri"/>
              <a:buChar char="●"/>
            </a:pPr>
            <a:r>
              <a:rPr lang="en-IN" sz="2400" dirty="0">
                <a:latin typeface="Century Gothic\"/>
              </a:rPr>
              <a:t>Global alignment considers the entire length of both sequences.</a:t>
            </a:r>
            <a:endParaRPr sz="2400" dirty="0">
              <a:latin typeface="Century Gothic\"/>
            </a:endParaRPr>
          </a:p>
        </p:txBody>
      </p:sp>
      <p:pic>
        <p:nvPicPr>
          <p:cNvPr id="3" name="Picture 2" descr="KLH Bowrampet Campus | Top Engineering College in Hyderabad">
            <a:extLst>
              <a:ext uri="{FF2B5EF4-FFF2-40B4-BE49-F238E27FC236}">
                <a16:creationId xmlns:a16="http://schemas.microsoft.com/office/drawing/2014/main" id="{8E3887E0-7513-E800-B3E4-676824C05226}"/>
              </a:ext>
            </a:extLst>
          </p:cNvPr>
          <p:cNvPicPr>
            <a:picLocks noChangeAspect="1"/>
          </p:cNvPicPr>
          <p:nvPr/>
        </p:nvPicPr>
        <p:blipFill>
          <a:blip r:embed="rId3"/>
          <a:srcRect t="35076"/>
          <a:stretch>
            <a:fillRect/>
          </a:stretch>
        </p:blipFill>
        <p:spPr>
          <a:xfrm>
            <a:off x="144872" y="117987"/>
            <a:ext cx="2587595" cy="12486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p:nvPr/>
        </p:nvSpPr>
        <p:spPr>
          <a:xfrm>
            <a:off x="2660072" y="221673"/>
            <a:ext cx="6723625" cy="65579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18"/>
          <p:cNvSpPr txBox="1"/>
          <p:nvPr/>
        </p:nvSpPr>
        <p:spPr>
          <a:xfrm>
            <a:off x="2660072" y="29269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Problem Statement and Objectives</a:t>
            </a:r>
            <a:endParaRPr/>
          </a:p>
        </p:txBody>
      </p:sp>
      <p:sp>
        <p:nvSpPr>
          <p:cNvPr id="119" name="Google Shape;119;p18"/>
          <p:cNvSpPr txBox="1">
            <a:spLocks noGrp="1"/>
          </p:cNvSpPr>
          <p:nvPr>
            <p:ph type="title"/>
          </p:nvPr>
        </p:nvSpPr>
        <p:spPr>
          <a:xfrm>
            <a:off x="747091" y="1560167"/>
            <a:ext cx="11150100" cy="5480400"/>
          </a:xfrm>
          <a:prstGeom prst="rect">
            <a:avLst/>
          </a:prstGeom>
          <a:noFill/>
          <a:ln>
            <a:noFill/>
          </a:ln>
        </p:spPr>
        <p:txBody>
          <a:bodyPr spcFirstLastPara="1" wrap="square" lIns="91425" tIns="45700" rIns="91425" bIns="45700" anchor="t" anchorCtr="0">
            <a:noAutofit/>
          </a:bodyPr>
          <a:lstStyle/>
          <a:p>
            <a:pPr marL="76200" lvl="0" algn="l" rtl="0">
              <a:lnSpc>
                <a:spcPct val="150000"/>
              </a:lnSpc>
              <a:spcBef>
                <a:spcPts val="0"/>
              </a:spcBef>
              <a:spcAft>
                <a:spcPts val="0"/>
              </a:spcAft>
              <a:buSzPts val="2400"/>
            </a:pPr>
            <a:r>
              <a:rPr lang="en-IN" sz="2400" u="sng" dirty="0"/>
              <a:t>Problem statement:</a:t>
            </a:r>
            <a:br>
              <a:rPr lang="en-IN" sz="2400" u="sng" dirty="0"/>
            </a:br>
            <a:r>
              <a:rPr lang="en-IN" sz="2400" dirty="0"/>
              <a:t>Comparing DNA and protein sequences manually is difficult for long sequences.</a:t>
            </a:r>
            <a:endParaRPr sz="2400" dirty="0"/>
          </a:p>
          <a:p>
            <a:pPr marL="457200" lvl="0" indent="-381000" algn="l" rtl="0">
              <a:lnSpc>
                <a:spcPct val="150000"/>
              </a:lnSpc>
              <a:spcBef>
                <a:spcPts val="0"/>
              </a:spcBef>
              <a:spcAft>
                <a:spcPts val="0"/>
              </a:spcAft>
              <a:buSzPts val="2400"/>
              <a:buChar char="●"/>
            </a:pPr>
            <a:r>
              <a:rPr lang="en-IN" sz="2400" dirty="0"/>
              <a:t>Biological sequences may contain matches, mismatches, and gaps.</a:t>
            </a:r>
            <a:endParaRPr sz="2400" dirty="0"/>
          </a:p>
          <a:p>
            <a:pPr marL="457200" lvl="0" indent="-381000" algn="l" rtl="0">
              <a:lnSpc>
                <a:spcPct val="150000"/>
              </a:lnSpc>
              <a:spcBef>
                <a:spcPts val="0"/>
              </a:spcBef>
              <a:spcAft>
                <a:spcPts val="0"/>
              </a:spcAft>
              <a:buSzPts val="2400"/>
              <a:buChar char="●"/>
            </a:pPr>
            <a:r>
              <a:rPr lang="en-IN" sz="2400" dirty="0"/>
              <a:t>A systematic method is required to find the optimal alignment between two sequences.</a:t>
            </a:r>
            <a:br>
              <a:rPr lang="en-IN" sz="2400" dirty="0"/>
            </a:br>
            <a:r>
              <a:rPr lang="en-IN" sz="2400" u="sng" dirty="0"/>
              <a:t>Objectives:</a:t>
            </a:r>
            <a:endParaRPr sz="2400" u="sng" dirty="0"/>
          </a:p>
          <a:p>
            <a:pPr marL="457200" lvl="0" indent="-381000" algn="l" rtl="0">
              <a:lnSpc>
                <a:spcPct val="150000"/>
              </a:lnSpc>
              <a:spcBef>
                <a:spcPts val="0"/>
              </a:spcBef>
              <a:spcAft>
                <a:spcPts val="0"/>
              </a:spcAft>
              <a:buSzPts val="2400"/>
              <a:buChar char="●"/>
            </a:pPr>
            <a:r>
              <a:rPr lang="en-IN" sz="2400" dirty="0"/>
              <a:t>The system should calculate an alignment score based on predefined scoring rules.</a:t>
            </a:r>
            <a:endParaRPr sz="2400" dirty="0"/>
          </a:p>
          <a:p>
            <a:pPr marL="457200" lvl="0" indent="-381000" algn="l" rtl="0">
              <a:lnSpc>
                <a:spcPct val="150000"/>
              </a:lnSpc>
              <a:spcBef>
                <a:spcPts val="0"/>
              </a:spcBef>
              <a:spcAft>
                <a:spcPts val="0"/>
              </a:spcAft>
              <a:buSzPts val="2400"/>
              <a:buChar char="●"/>
            </a:pPr>
            <a:r>
              <a:rPr lang="en-IN" sz="2400" dirty="0"/>
              <a:t>It should correctly handle matches, mismatches, and gap penalties.</a:t>
            </a:r>
            <a:endParaRPr sz="2400" dirty="0"/>
          </a:p>
          <a:p>
            <a:pPr marL="457200" lvl="0" indent="-381000" algn="l" rtl="0">
              <a:lnSpc>
                <a:spcPct val="150000"/>
              </a:lnSpc>
              <a:spcBef>
                <a:spcPts val="0"/>
              </a:spcBef>
              <a:spcAft>
                <a:spcPts val="0"/>
              </a:spcAft>
              <a:buSzPts val="2400"/>
              <a:buChar char="●"/>
            </a:pPr>
            <a:r>
              <a:rPr lang="en-IN" sz="2400" dirty="0"/>
              <a:t>The system should display the final aligned sequences clearly.</a:t>
            </a:r>
            <a:endParaRPr sz="2400" dirty="0"/>
          </a:p>
          <a:p>
            <a:pPr marL="0" lvl="0" indent="0" algn="l" rtl="0">
              <a:lnSpc>
                <a:spcPct val="150000"/>
              </a:lnSpc>
              <a:spcBef>
                <a:spcPts val="0"/>
              </a:spcBef>
              <a:spcAft>
                <a:spcPts val="0"/>
              </a:spcAft>
              <a:buClr>
                <a:schemeClr val="dk1"/>
              </a:buClr>
              <a:buSzPts val="1100"/>
              <a:buFont typeface="Arial"/>
              <a:buNone/>
            </a:pPr>
            <a:endParaRPr sz="2400" dirty="0">
              <a:latin typeface="Arial"/>
              <a:ea typeface="Arial"/>
              <a:cs typeface="Arial"/>
              <a:sym typeface="Arial"/>
            </a:endParaRPr>
          </a:p>
          <a:p>
            <a:pPr marL="0" lvl="0" indent="0" algn="l" rtl="0">
              <a:lnSpc>
                <a:spcPct val="150000"/>
              </a:lnSpc>
              <a:spcBef>
                <a:spcPts val="0"/>
              </a:spcBef>
              <a:spcAft>
                <a:spcPts val="0"/>
              </a:spcAft>
              <a:buClr>
                <a:schemeClr val="dk1"/>
              </a:buClr>
              <a:buSzPts val="3600"/>
              <a:buFont typeface="Calibri"/>
              <a:buNone/>
            </a:pPr>
            <a:br>
              <a:rPr lang="en-IN" sz="2300" dirty="0"/>
            </a:br>
            <a:endParaRPr sz="2300" dirty="0"/>
          </a:p>
        </p:txBody>
      </p:sp>
      <p:pic>
        <p:nvPicPr>
          <p:cNvPr id="3" name="Picture 2" descr="KLH Bowrampet Campus | Top Engineering College in Hyderabad">
            <a:extLst>
              <a:ext uri="{FF2B5EF4-FFF2-40B4-BE49-F238E27FC236}">
                <a16:creationId xmlns:a16="http://schemas.microsoft.com/office/drawing/2014/main" id="{731616D8-95E2-2816-04CB-818F934067E5}"/>
              </a:ext>
            </a:extLst>
          </p:cNvPr>
          <p:cNvPicPr>
            <a:picLocks noChangeAspect="1"/>
          </p:cNvPicPr>
          <p:nvPr/>
        </p:nvPicPr>
        <p:blipFill>
          <a:blip r:embed="rId3"/>
          <a:srcRect t="35076"/>
          <a:stretch>
            <a:fillRect/>
          </a:stretch>
        </p:blipFill>
        <p:spPr>
          <a:xfrm>
            <a:off x="0" y="165077"/>
            <a:ext cx="2225562" cy="10739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20"/>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Flow Chart</a:t>
            </a:r>
            <a:endParaRPr/>
          </a:p>
        </p:txBody>
      </p:sp>
      <p:sp>
        <p:nvSpPr>
          <p:cNvPr id="131" name="Google Shape;131;p20"/>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1000"/>
              <a:buFont typeface="Calibri"/>
              <a:buNone/>
            </a:pPr>
            <a:r>
              <a:rPr lang="en-IN" sz="1000"/>
              <a:t> </a:t>
            </a:r>
            <a:endParaRPr sz="3200"/>
          </a:p>
        </p:txBody>
      </p:sp>
      <p:sp>
        <p:nvSpPr>
          <p:cNvPr id="132" name="Google Shape;132;p20"/>
          <p:cNvSpPr txBox="1">
            <a:spLocks noGrp="1"/>
          </p:cNvSpPr>
          <p:nvPr>
            <p:ph type="body" idx="1"/>
          </p:nvPr>
        </p:nvSpPr>
        <p:spPr>
          <a:xfrm>
            <a:off x="225262" y="1077425"/>
            <a:ext cx="11122200" cy="5762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888888"/>
              </a:buClr>
              <a:buSzPts val="2400"/>
              <a:buNone/>
            </a:pPr>
            <a:r>
              <a:rPr lang="en-IN" sz="2000" b="1" dirty="0">
                <a:solidFill>
                  <a:schemeClr val="dk1"/>
                </a:solidFill>
                <a:latin typeface="Arial"/>
                <a:ea typeface="Arial"/>
                <a:cs typeface="Arial"/>
                <a:sym typeface="Arial"/>
              </a:rPr>
              <a:t> Start</a:t>
            </a:r>
            <a:br>
              <a:rPr lang="en-IN" sz="20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Enter Sequence 1</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Enter Sequence 2</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Set Match, Mismatch &amp; Gap Scores</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Initialize Dynamic Programming Matrix</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Fill the Matrix</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Traceback from Bottom-Right Cell</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Generate Optimal Alignment</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Calculate Alignment Score</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Display Aligned Sequences &amp; Score</a:t>
            </a:r>
            <a:br>
              <a:rPr lang="en-IN" sz="1900" b="1"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br>
              <a:rPr lang="en-IN" sz="1900" dirty="0">
                <a:solidFill>
                  <a:schemeClr val="dk1"/>
                </a:solidFill>
                <a:latin typeface="Arial"/>
                <a:ea typeface="Arial"/>
                <a:cs typeface="Arial"/>
                <a:sym typeface="Arial"/>
              </a:rPr>
            </a:br>
            <a:r>
              <a:rPr lang="en-IN" sz="1900" dirty="0">
                <a:solidFill>
                  <a:schemeClr val="dk1"/>
                </a:solidFill>
                <a:latin typeface="Arial"/>
                <a:ea typeface="Arial"/>
                <a:cs typeface="Arial"/>
                <a:sym typeface="Arial"/>
              </a:rPr>
              <a:t> </a:t>
            </a:r>
            <a:r>
              <a:rPr lang="en-IN" sz="1900" b="1" dirty="0">
                <a:solidFill>
                  <a:schemeClr val="dk1"/>
                </a:solidFill>
                <a:latin typeface="Arial"/>
                <a:ea typeface="Arial"/>
                <a:cs typeface="Arial"/>
                <a:sym typeface="Arial"/>
              </a:rPr>
              <a:t>END</a:t>
            </a:r>
            <a:endParaRPr sz="1900" b="1" dirty="0">
              <a:solidFill>
                <a:schemeClr val="dk1"/>
              </a:solidFill>
              <a:latin typeface="Arial"/>
              <a:ea typeface="Arial"/>
              <a:cs typeface="Arial"/>
              <a:sym typeface="Arial"/>
            </a:endParaRPr>
          </a:p>
          <a:p>
            <a:pPr marL="0" lvl="0" indent="0" algn="ctr" rtl="0">
              <a:lnSpc>
                <a:spcPct val="90000"/>
              </a:lnSpc>
              <a:spcBef>
                <a:spcPts val="0"/>
              </a:spcBef>
              <a:spcAft>
                <a:spcPts val="0"/>
              </a:spcAft>
              <a:buClr>
                <a:srgbClr val="888888"/>
              </a:buClr>
              <a:buSzPts val="2400"/>
              <a:buNone/>
            </a:pPr>
            <a:endParaRPr sz="21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21"/>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Results</a:t>
            </a:r>
            <a:endParaRPr sz="3200" b="1">
              <a:solidFill>
                <a:schemeClr val="lt1"/>
              </a:solidFill>
              <a:latin typeface="Calibri"/>
              <a:ea typeface="Calibri"/>
              <a:cs typeface="Calibri"/>
              <a:sym typeface="Calibri"/>
            </a:endParaRPr>
          </a:p>
        </p:txBody>
      </p:sp>
      <p:sp>
        <p:nvSpPr>
          <p:cNvPr id="139" name="Google Shape;139;p21"/>
          <p:cNvSpPr txBox="1"/>
          <p:nvPr/>
        </p:nvSpPr>
        <p:spPr>
          <a:xfrm>
            <a:off x="1118134" y="1373388"/>
            <a:ext cx="9221400"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Calibri"/>
              <a:buNone/>
            </a:pPr>
            <a:r>
              <a:rPr lang="en-IN" sz="2400" dirty="0">
                <a:ea typeface="Calibri"/>
                <a:cs typeface="Calibri"/>
                <a:sym typeface="Calibri"/>
              </a:rPr>
              <a:t>The implemented system successfully performs </a:t>
            </a:r>
            <a:r>
              <a:rPr lang="en-IN" sz="2400" b="1" dirty="0">
                <a:ea typeface="Calibri"/>
                <a:cs typeface="Calibri"/>
                <a:sym typeface="Calibri"/>
              </a:rPr>
              <a:t>global sequence alignment</a:t>
            </a:r>
            <a:r>
              <a:rPr lang="en-IN" sz="2400" dirty="0">
                <a:ea typeface="Calibri"/>
                <a:cs typeface="Calibri"/>
                <a:sym typeface="Calibri"/>
              </a:rPr>
              <a:t> using the Needleman–Wunsch algorithm. Given two DNA or protein sequences, the system constructs a dynamic programming table by considering match scores, mismatch penalties, and gap penalties. It then traces the table backward to obtain the optimal.</a:t>
            </a:r>
            <a:endParaRPr dirty="0"/>
          </a:p>
          <a:p>
            <a:pPr marL="0" marR="0" lvl="0" indent="0" algn="l" rtl="0">
              <a:spcBef>
                <a:spcPts val="0"/>
              </a:spcBef>
              <a:spcAft>
                <a:spcPts val="0"/>
              </a:spcAft>
              <a:buClr>
                <a:schemeClr val="dk1"/>
              </a:buClr>
              <a:buSzPts val="2400"/>
              <a:buFont typeface="Calibri"/>
              <a:buNone/>
            </a:pPr>
            <a:r>
              <a:rPr lang="en-IN" sz="2400" dirty="0">
                <a:ea typeface="Calibri"/>
                <a:cs typeface="Calibri"/>
                <a:sym typeface="Calibri"/>
              </a:rPr>
              <a:t>The system produces:</a:t>
            </a:r>
            <a:endParaRPr dirty="0"/>
          </a:p>
          <a:p>
            <a:pPr marL="342900" marR="0" lvl="0" indent="-342900" algn="l" rtl="0">
              <a:spcBef>
                <a:spcPts val="0"/>
              </a:spcBef>
              <a:spcAft>
                <a:spcPts val="0"/>
              </a:spcAft>
              <a:buClr>
                <a:schemeClr val="dk1"/>
              </a:buClr>
              <a:buSzPts val="2400"/>
              <a:buFont typeface="Arial"/>
              <a:buChar char="•"/>
            </a:pPr>
            <a:r>
              <a:rPr lang="en-IN" sz="2400" dirty="0">
                <a:ea typeface="Calibri"/>
                <a:cs typeface="Calibri"/>
                <a:sym typeface="Calibri"/>
              </a:rPr>
              <a:t>The optimal aligned sequences </a:t>
            </a:r>
            <a:endParaRPr dirty="0"/>
          </a:p>
          <a:p>
            <a:pPr marL="342900" marR="0" lvl="0" indent="-342900" algn="l" rtl="0">
              <a:spcBef>
                <a:spcPts val="0"/>
              </a:spcBef>
              <a:spcAft>
                <a:spcPts val="0"/>
              </a:spcAft>
              <a:buClr>
                <a:schemeClr val="dk1"/>
              </a:buClr>
              <a:buSzPts val="2400"/>
              <a:buFont typeface="Arial"/>
              <a:buChar char="•"/>
            </a:pPr>
            <a:r>
              <a:rPr lang="en-IN" sz="2400" dirty="0">
                <a:ea typeface="Calibri"/>
                <a:cs typeface="Calibri"/>
                <a:sym typeface="Calibri"/>
              </a:rPr>
              <a:t>The corresponding alignment score </a:t>
            </a:r>
            <a:endParaRPr dirty="0"/>
          </a:p>
          <a:p>
            <a:pPr marL="342900" marR="0" lvl="0" indent="-342900" algn="l" rtl="0">
              <a:spcBef>
                <a:spcPts val="0"/>
              </a:spcBef>
              <a:spcAft>
                <a:spcPts val="0"/>
              </a:spcAft>
              <a:buClr>
                <a:schemeClr val="dk1"/>
              </a:buClr>
              <a:buSzPts val="2400"/>
              <a:buFont typeface="Arial"/>
              <a:buChar char="•"/>
            </a:pPr>
            <a:r>
              <a:rPr lang="en-IN" sz="2400" dirty="0">
                <a:ea typeface="Calibri"/>
                <a:cs typeface="Calibri"/>
                <a:sym typeface="Calibri"/>
              </a:rPr>
              <a:t>Correct handling of matches, mismatches, and gaps </a:t>
            </a:r>
            <a:endParaRPr dirty="0"/>
          </a:p>
          <a:p>
            <a:pPr marL="342900" marR="0" lvl="0" indent="-342900" algn="l" rtl="0">
              <a:spcBef>
                <a:spcPts val="0"/>
              </a:spcBef>
              <a:spcAft>
                <a:spcPts val="0"/>
              </a:spcAft>
              <a:buClr>
                <a:schemeClr val="dk1"/>
              </a:buClr>
              <a:buSzPts val="2400"/>
              <a:buFont typeface="Arial"/>
              <a:buChar char="•"/>
            </a:pPr>
            <a:r>
              <a:rPr lang="en-IN" sz="2400" dirty="0">
                <a:ea typeface="Calibri"/>
                <a:cs typeface="Calibri"/>
                <a:sym typeface="Calibri"/>
              </a:rPr>
              <a:t>An efficient solution using dynamic programming </a:t>
            </a:r>
            <a:endParaRPr dirty="0"/>
          </a:p>
          <a:p>
            <a:pPr marL="0" marR="0" lvl="0" indent="0" algn="l" rtl="0">
              <a:spcBef>
                <a:spcPts val="0"/>
              </a:spcBef>
              <a:spcAft>
                <a:spcPts val="0"/>
              </a:spcAft>
              <a:buClr>
                <a:schemeClr val="dk1"/>
              </a:buClr>
              <a:buSzPts val="2400"/>
              <a:buFont typeface="Calibri"/>
              <a:buNone/>
            </a:pPr>
            <a:r>
              <a:rPr lang="en-IN" sz="2400" dirty="0">
                <a:ea typeface="Calibri"/>
                <a:cs typeface="Calibri"/>
                <a:sym typeface="Calibri"/>
              </a:rPr>
              <a:t>The algorithm has a </a:t>
            </a:r>
            <a:r>
              <a:rPr lang="en-IN" sz="2400" b="1" dirty="0">
                <a:ea typeface="Calibri"/>
                <a:cs typeface="Calibri"/>
                <a:sym typeface="Calibri"/>
              </a:rPr>
              <a:t>time complexity of O(m × n)</a:t>
            </a:r>
            <a:r>
              <a:rPr lang="en-IN" sz="2400" dirty="0">
                <a:ea typeface="Calibri"/>
                <a:cs typeface="Calibri"/>
                <a:sym typeface="Calibri"/>
              </a:rPr>
              <a:t> and </a:t>
            </a:r>
            <a:r>
              <a:rPr lang="en-IN" sz="2400" b="1" dirty="0">
                <a:ea typeface="Calibri"/>
                <a:cs typeface="Calibri"/>
                <a:sym typeface="Calibri"/>
              </a:rPr>
              <a:t>space complexity of O(m × n)</a:t>
            </a:r>
            <a:r>
              <a:rPr lang="en-IN" sz="2400" dirty="0">
                <a:ea typeface="Calibri"/>
                <a:cs typeface="Calibri"/>
                <a:sym typeface="Calibri"/>
              </a:rPr>
              <a:t>, where </a:t>
            </a:r>
            <a:r>
              <a:rPr lang="en-IN" sz="2400" dirty="0">
                <a:ea typeface="Courier New"/>
                <a:cs typeface="Courier New"/>
                <a:sym typeface="Courier New"/>
              </a:rPr>
              <a:t>m</a:t>
            </a:r>
            <a:r>
              <a:rPr lang="en-IN" sz="2400" dirty="0">
                <a:ea typeface="Calibri"/>
                <a:cs typeface="Calibri"/>
                <a:sym typeface="Calibri"/>
              </a:rPr>
              <a:t> and </a:t>
            </a:r>
            <a:r>
              <a:rPr lang="en-IN" sz="2400" dirty="0">
                <a:ea typeface="Courier New"/>
                <a:cs typeface="Courier New"/>
                <a:sym typeface="Courier New"/>
              </a:rPr>
              <a:t>n</a:t>
            </a:r>
            <a:r>
              <a:rPr lang="en-IN" sz="2400" dirty="0">
                <a:ea typeface="Calibri"/>
                <a:cs typeface="Calibri"/>
                <a:sym typeface="Calibri"/>
              </a:rPr>
              <a:t> are the lengths of the two input sequences.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p:nvPr/>
        </p:nvSpPr>
        <p:spPr>
          <a:xfrm>
            <a:off x="3654372" y="262038"/>
            <a:ext cx="6419945" cy="60395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22"/>
          <p:cNvSpPr txBox="1"/>
          <p:nvPr/>
        </p:nvSpPr>
        <p:spPr>
          <a:xfrm>
            <a:off x="3547840" y="302403"/>
            <a:ext cx="687185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a:solidFill>
                  <a:schemeClr val="lt1"/>
                </a:solidFill>
                <a:latin typeface="Calibri"/>
                <a:ea typeface="Calibri"/>
                <a:cs typeface="Calibri"/>
                <a:sym typeface="Calibri"/>
              </a:rPr>
              <a:t>Hardware and Software requirements</a:t>
            </a:r>
            <a:endParaRPr sz="2800" b="1">
              <a:solidFill>
                <a:schemeClr val="lt1"/>
              </a:solidFill>
              <a:latin typeface="Calibri"/>
              <a:ea typeface="Calibri"/>
              <a:cs typeface="Calibri"/>
              <a:sym typeface="Calibri"/>
            </a:endParaRPr>
          </a:p>
        </p:txBody>
      </p:sp>
      <p:sp>
        <p:nvSpPr>
          <p:cNvPr id="146" name="Google Shape;146;p22"/>
          <p:cNvSpPr txBox="1"/>
          <p:nvPr/>
        </p:nvSpPr>
        <p:spPr>
          <a:xfrm>
            <a:off x="1101110" y="932873"/>
            <a:ext cx="9237000" cy="66357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IN" sz="2800" b="1" u="sng" dirty="0">
                <a:latin typeface="Calibri"/>
                <a:ea typeface="Calibri"/>
                <a:cs typeface="Calibri"/>
                <a:sym typeface="Calibri"/>
              </a:rPr>
              <a:t>Hardware</a:t>
            </a:r>
            <a:endParaRPr u="sng" dirty="0"/>
          </a:p>
          <a:p>
            <a:pPr marL="0" lvl="0" indent="0" algn="l" rtl="0">
              <a:lnSpc>
                <a:spcPct val="115000"/>
              </a:lnSpc>
              <a:spcBef>
                <a:spcPts val="0"/>
              </a:spcBef>
              <a:spcAft>
                <a:spcPts val="0"/>
              </a:spcAft>
              <a:buClr>
                <a:schemeClr val="dk1"/>
              </a:buClr>
              <a:buFont typeface="Arial"/>
              <a:buNone/>
            </a:pPr>
            <a:r>
              <a:rPr lang="en-IN" sz="2400" b="1" dirty="0">
                <a:latin typeface="Calibri"/>
                <a:ea typeface="Calibri"/>
                <a:cs typeface="Calibri"/>
                <a:sym typeface="Calibri"/>
              </a:rPr>
              <a:t>                           PROCESSOR:</a:t>
            </a:r>
            <a:r>
              <a:rPr lang="en-IN" sz="2400" dirty="0">
                <a:latin typeface="Calibri"/>
                <a:ea typeface="Calibri"/>
                <a:cs typeface="Calibri"/>
                <a:sym typeface="Calibri"/>
              </a:rPr>
              <a:t> Intel Core i3 or equivalent and above </a:t>
            </a:r>
            <a:endParaRPr dirty="0"/>
          </a:p>
          <a:p>
            <a:pPr marL="0" lvl="0" indent="0" algn="l" rtl="0">
              <a:lnSpc>
                <a:spcPct val="115000"/>
              </a:lnSpc>
              <a:spcBef>
                <a:spcPts val="0"/>
              </a:spcBef>
              <a:spcAft>
                <a:spcPts val="0"/>
              </a:spcAft>
              <a:buClr>
                <a:schemeClr val="dk1"/>
              </a:buClr>
              <a:buFont typeface="Arial"/>
              <a:buNone/>
            </a:pPr>
            <a:r>
              <a:rPr lang="en-IN" sz="2400" b="1" dirty="0">
                <a:latin typeface="Calibri"/>
                <a:ea typeface="Calibri"/>
                <a:cs typeface="Calibri"/>
                <a:sym typeface="Calibri"/>
              </a:rPr>
              <a:t>                           RAM:</a:t>
            </a:r>
            <a:r>
              <a:rPr lang="en-IN" sz="2400" dirty="0">
                <a:latin typeface="Calibri"/>
                <a:ea typeface="Calibri"/>
                <a:cs typeface="Calibri"/>
                <a:sym typeface="Calibri"/>
              </a:rPr>
              <a:t> Minimum 4 GB </a:t>
            </a:r>
            <a:endParaRPr dirty="0"/>
          </a:p>
          <a:p>
            <a:pPr marL="0" lvl="0" indent="0" algn="l" rtl="0">
              <a:lnSpc>
                <a:spcPct val="115000"/>
              </a:lnSpc>
              <a:spcBef>
                <a:spcPts val="0"/>
              </a:spcBef>
              <a:spcAft>
                <a:spcPts val="0"/>
              </a:spcAft>
              <a:buClr>
                <a:schemeClr val="dk1"/>
              </a:buClr>
              <a:buFont typeface="Arial"/>
              <a:buNone/>
            </a:pPr>
            <a:r>
              <a:rPr lang="en-IN" sz="2400" b="1" dirty="0">
                <a:latin typeface="Calibri"/>
                <a:ea typeface="Calibri"/>
                <a:cs typeface="Calibri"/>
                <a:sym typeface="Calibri"/>
              </a:rPr>
              <a:t>                           STORAGE: </a:t>
            </a:r>
            <a:r>
              <a:rPr lang="en-IN" sz="2400" dirty="0">
                <a:latin typeface="Calibri"/>
                <a:ea typeface="Calibri"/>
                <a:cs typeface="Calibri"/>
                <a:sym typeface="Calibri"/>
              </a:rPr>
              <a:t>Minimum 500 MB free space </a:t>
            </a:r>
            <a:endParaRPr dirty="0"/>
          </a:p>
          <a:p>
            <a:pPr marL="0" lvl="0" indent="0" algn="l" rtl="0">
              <a:lnSpc>
                <a:spcPct val="115000"/>
              </a:lnSpc>
              <a:spcBef>
                <a:spcPts val="0"/>
              </a:spcBef>
              <a:spcAft>
                <a:spcPts val="0"/>
              </a:spcAft>
              <a:buClr>
                <a:schemeClr val="dk1"/>
              </a:buClr>
              <a:buFont typeface="Arial"/>
              <a:buNone/>
            </a:pPr>
            <a:r>
              <a:rPr lang="en-IN" sz="2400" b="1" dirty="0">
                <a:latin typeface="Calibri"/>
                <a:ea typeface="Calibri"/>
                <a:cs typeface="Calibri"/>
                <a:sym typeface="Calibri"/>
              </a:rPr>
              <a:t>                           INPUT DEVICES: </a:t>
            </a:r>
            <a:r>
              <a:rPr lang="en-IN" sz="2400" dirty="0">
                <a:latin typeface="Calibri"/>
                <a:ea typeface="Calibri"/>
                <a:cs typeface="Calibri"/>
                <a:sym typeface="Calibri"/>
              </a:rPr>
              <a:t>Keyboard and mouse </a:t>
            </a:r>
            <a:endParaRPr dirty="0"/>
          </a:p>
          <a:p>
            <a:pPr marL="0" lvl="0" indent="0" algn="l" rtl="0">
              <a:lnSpc>
                <a:spcPct val="115000"/>
              </a:lnSpc>
              <a:spcBef>
                <a:spcPts val="0"/>
              </a:spcBef>
              <a:spcAft>
                <a:spcPts val="0"/>
              </a:spcAft>
              <a:buClr>
                <a:schemeClr val="dk1"/>
              </a:buClr>
              <a:buFont typeface="Arial"/>
              <a:buNone/>
            </a:pPr>
            <a:r>
              <a:rPr lang="en-IN" sz="2400" b="1" dirty="0">
                <a:latin typeface="Calibri"/>
                <a:ea typeface="Calibri"/>
                <a:cs typeface="Calibri"/>
                <a:sym typeface="Calibri"/>
              </a:rPr>
              <a:t>                           DISPLAY: </a:t>
            </a:r>
            <a:r>
              <a:rPr lang="en-IN" sz="2400" dirty="0">
                <a:latin typeface="Calibri"/>
                <a:ea typeface="Calibri"/>
                <a:cs typeface="Calibri"/>
                <a:sym typeface="Calibri"/>
              </a:rPr>
              <a:t>Standard monitor/display</a:t>
            </a:r>
            <a:endParaRPr sz="2400" b="1" dirty="0">
              <a:latin typeface="Calibri"/>
              <a:ea typeface="Calibri"/>
              <a:cs typeface="Calibri"/>
              <a:sym typeface="Calibri"/>
            </a:endParaRPr>
          </a:p>
          <a:p>
            <a:pPr marL="0" marR="0" lvl="0" indent="0" algn="l" rtl="0">
              <a:lnSpc>
                <a:spcPct val="115000"/>
              </a:lnSpc>
              <a:spcBef>
                <a:spcPts val="0"/>
              </a:spcBef>
              <a:spcAft>
                <a:spcPts val="0"/>
              </a:spcAft>
              <a:buNone/>
            </a:pPr>
            <a:r>
              <a:rPr lang="en-IN" sz="2800" b="1" u="sng" dirty="0">
                <a:latin typeface="Calibri"/>
                <a:ea typeface="Calibri"/>
                <a:cs typeface="Calibri"/>
                <a:sym typeface="Calibri"/>
              </a:rPr>
              <a:t>Software</a:t>
            </a:r>
            <a:endParaRPr u="sng" dirty="0"/>
          </a:p>
          <a:p>
            <a:pPr marL="0" lvl="0" indent="0" algn="l" rtl="0">
              <a:lnSpc>
                <a:spcPct val="115000"/>
              </a:lnSpc>
              <a:spcBef>
                <a:spcPts val="0"/>
              </a:spcBef>
              <a:spcAft>
                <a:spcPts val="0"/>
              </a:spcAft>
              <a:buClr>
                <a:schemeClr val="dk1"/>
              </a:buClr>
              <a:buSzPts val="1100"/>
              <a:buFont typeface="Arial"/>
              <a:buNone/>
            </a:pPr>
            <a:r>
              <a:rPr lang="en-IN" sz="2200" dirty="0"/>
              <a:t>                        Operating System: Windows / Linux / macOS</a:t>
            </a:r>
            <a:endParaRPr sz="2200" dirty="0"/>
          </a:p>
          <a:p>
            <a:pPr marL="0" lvl="0" indent="0" algn="l" rtl="0">
              <a:lnSpc>
                <a:spcPct val="115000"/>
              </a:lnSpc>
              <a:spcBef>
                <a:spcPts val="0"/>
              </a:spcBef>
              <a:spcAft>
                <a:spcPts val="0"/>
              </a:spcAft>
              <a:buClr>
                <a:schemeClr val="dk1"/>
              </a:buClr>
              <a:buSzPts val="1100"/>
              <a:buFont typeface="Arial"/>
              <a:buNone/>
            </a:pPr>
            <a:r>
              <a:rPr lang="en-IN" sz="2200" dirty="0"/>
              <a:t>                        Programming Language: Java</a:t>
            </a:r>
            <a:endParaRPr sz="2200" dirty="0"/>
          </a:p>
          <a:p>
            <a:pPr marL="0" lvl="0" indent="0" algn="l" rtl="0">
              <a:lnSpc>
                <a:spcPct val="115000"/>
              </a:lnSpc>
              <a:spcBef>
                <a:spcPts val="0"/>
              </a:spcBef>
              <a:spcAft>
                <a:spcPts val="0"/>
              </a:spcAft>
              <a:buClr>
                <a:schemeClr val="dk1"/>
              </a:buClr>
              <a:buSzPts val="1100"/>
              <a:buFont typeface="Arial"/>
              <a:buNone/>
            </a:pPr>
            <a:r>
              <a:rPr lang="en-IN" sz="2200" dirty="0"/>
              <a:t>                        IDE: IntelliJ IDEA / Eclipse / VS Code / NetBeans</a:t>
            </a:r>
            <a:endParaRPr sz="2200" dirty="0"/>
          </a:p>
          <a:p>
            <a:pPr marL="0" lvl="0" indent="0" algn="l" rtl="0">
              <a:lnSpc>
                <a:spcPct val="115000"/>
              </a:lnSpc>
              <a:spcBef>
                <a:spcPts val="0"/>
              </a:spcBef>
              <a:spcAft>
                <a:spcPts val="0"/>
              </a:spcAft>
              <a:buClr>
                <a:schemeClr val="dk1"/>
              </a:buClr>
              <a:buSzPts val="1100"/>
              <a:buFont typeface="Arial"/>
              <a:buNone/>
            </a:pPr>
            <a:r>
              <a:rPr lang="en-IN" sz="2200" dirty="0"/>
              <a:t>                        JDK: JDK 8 or above</a:t>
            </a:r>
            <a:endParaRPr sz="2200" dirty="0"/>
          </a:p>
          <a:p>
            <a:pPr marL="0" lvl="0" indent="0" algn="l" rtl="0">
              <a:lnSpc>
                <a:spcPct val="115000"/>
              </a:lnSpc>
              <a:spcBef>
                <a:spcPts val="0"/>
              </a:spcBef>
              <a:spcAft>
                <a:spcPts val="0"/>
              </a:spcAft>
              <a:buClr>
                <a:schemeClr val="dk1"/>
              </a:buClr>
              <a:buSzPts val="1100"/>
              <a:buFont typeface="Arial"/>
              <a:buNone/>
            </a:pPr>
            <a:r>
              <a:rPr lang="en-IN" sz="2200" dirty="0"/>
              <a:t>                        Libraries: Standard Java libraries</a:t>
            </a:r>
            <a:endParaRPr sz="2200" dirty="0"/>
          </a:p>
          <a:p>
            <a:pPr marL="0" lvl="0" indent="0" algn="l" rtl="0">
              <a:lnSpc>
                <a:spcPct val="115000"/>
              </a:lnSpc>
              <a:spcBef>
                <a:spcPts val="0"/>
              </a:spcBef>
              <a:spcAft>
                <a:spcPts val="0"/>
              </a:spcAft>
              <a:buClr>
                <a:schemeClr val="dk1"/>
              </a:buClr>
              <a:buSzPts val="1100"/>
              <a:buFont typeface="Arial"/>
              <a:buNone/>
            </a:pPr>
            <a:r>
              <a:rPr lang="en-IN" sz="2200" b="1" dirty="0"/>
              <a:t>                        Algorithm: Needleman–Wunsch Algorithm</a:t>
            </a:r>
            <a:endParaRPr sz="2200" b="1" dirty="0"/>
          </a:p>
          <a:p>
            <a:pPr marL="0" lvl="0" indent="0" algn="l" rtl="0">
              <a:lnSpc>
                <a:spcPct val="115000"/>
              </a:lnSpc>
              <a:spcBef>
                <a:spcPts val="0"/>
              </a:spcBef>
              <a:spcAft>
                <a:spcPts val="0"/>
              </a:spcAft>
              <a:buClr>
                <a:schemeClr val="dk1"/>
              </a:buClr>
              <a:buSzPts val="1100"/>
              <a:buFont typeface="Arial"/>
              <a:buNone/>
            </a:pPr>
            <a:r>
              <a:rPr lang="en-IN" sz="2200" b="1" dirty="0"/>
              <a:t>                        Concept:</a:t>
            </a:r>
            <a:r>
              <a:rPr lang="en-IN" sz="2200" dirty="0"/>
              <a:t> Dynamic Programming</a:t>
            </a:r>
            <a:endParaRPr sz="2200" dirty="0"/>
          </a:p>
          <a:p>
            <a:pPr marL="0" marR="0" lvl="0" indent="0" algn="l" rtl="0">
              <a:lnSpc>
                <a:spcPct val="115000"/>
              </a:lnSpc>
              <a:spcBef>
                <a:spcPts val="0"/>
              </a:spcBef>
              <a:spcAft>
                <a:spcPts val="0"/>
              </a:spcAft>
              <a:buNone/>
            </a:pPr>
            <a:endParaRPr sz="24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 name="Google Shape;152;p23"/>
          <p:cNvSpPr txBox="1"/>
          <p:nvPr/>
        </p:nvSpPr>
        <p:spPr>
          <a:xfrm>
            <a:off x="2660072" y="18790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Conclusion</a:t>
            </a:r>
            <a:endParaRPr/>
          </a:p>
        </p:txBody>
      </p:sp>
      <p:sp>
        <p:nvSpPr>
          <p:cNvPr id="153" name="Google Shape;153;p23"/>
          <p:cNvSpPr txBox="1"/>
          <p:nvPr/>
        </p:nvSpPr>
        <p:spPr>
          <a:xfrm>
            <a:off x="821433" y="1394528"/>
            <a:ext cx="8294700" cy="55399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Calibri"/>
              <a:buNone/>
            </a:pPr>
            <a:r>
              <a:rPr lang="en-IN" sz="2400" dirty="0">
                <a:ea typeface="Calibri"/>
                <a:cs typeface="Calibri"/>
                <a:sym typeface="Calibri"/>
              </a:rPr>
              <a:t>The project successfully demonstrates the application of </a:t>
            </a:r>
            <a:r>
              <a:rPr lang="en-IN" sz="2400" b="1" dirty="0">
                <a:ea typeface="Calibri"/>
                <a:cs typeface="Calibri"/>
                <a:sym typeface="Calibri"/>
              </a:rPr>
              <a:t>advanced Dynamic Programming concepts</a:t>
            </a:r>
            <a:r>
              <a:rPr lang="en-IN" sz="2400" dirty="0">
                <a:ea typeface="Calibri"/>
                <a:cs typeface="Calibri"/>
                <a:sym typeface="Calibri"/>
              </a:rPr>
              <a:t> to the problem of global sequence alignment. The Needleman–Wunsch algorithm efficiently finds the optimal alignment between two biological sequences by breaking the problem into smaller overlapping subproblems.</a:t>
            </a:r>
            <a:endParaRPr dirty="0"/>
          </a:p>
          <a:p>
            <a:pPr marL="0" marR="0" lvl="0" indent="0" algn="l" rtl="0">
              <a:spcBef>
                <a:spcPts val="0"/>
              </a:spcBef>
              <a:spcAft>
                <a:spcPts val="0"/>
              </a:spcAft>
              <a:buClr>
                <a:schemeClr val="dk1"/>
              </a:buClr>
              <a:buSzPts val="2400"/>
              <a:buFont typeface="Calibri"/>
              <a:buNone/>
            </a:pPr>
            <a:r>
              <a:rPr lang="en-IN" sz="2400" dirty="0">
                <a:ea typeface="Calibri"/>
                <a:cs typeface="Calibri"/>
                <a:sym typeface="Calibri"/>
              </a:rPr>
              <a:t>Through this project, concepts such as </a:t>
            </a:r>
            <a:r>
              <a:rPr lang="en-IN" sz="2400" b="1" dirty="0">
                <a:ea typeface="Calibri"/>
                <a:cs typeface="Calibri"/>
                <a:sym typeface="Calibri"/>
              </a:rPr>
              <a:t>dynamic programming, optimal substructure, recurrence relations, matrix-based computation, and backtracking</a:t>
            </a:r>
            <a:r>
              <a:rPr lang="en-IN" sz="2400" dirty="0">
                <a:ea typeface="Calibri"/>
                <a:cs typeface="Calibri"/>
                <a:sym typeface="Calibri"/>
              </a:rPr>
              <a:t> are applied to a real-world bioinformatics problem. The project shows how Data Structures and Algorithms can be used to solve computational biology problems effectively.</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24"/>
          <p:cNvSpPr txBox="1"/>
          <p:nvPr/>
        </p:nvSpPr>
        <p:spPr>
          <a:xfrm>
            <a:off x="2660072" y="15413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 Future Scope</a:t>
            </a:r>
            <a:endParaRPr/>
          </a:p>
        </p:txBody>
      </p:sp>
      <p:sp>
        <p:nvSpPr>
          <p:cNvPr id="160" name="Google Shape;160;p24"/>
          <p:cNvSpPr txBox="1"/>
          <p:nvPr/>
        </p:nvSpPr>
        <p:spPr>
          <a:xfrm>
            <a:off x="599767" y="1263118"/>
            <a:ext cx="9665388" cy="2585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Calibri"/>
              <a:buNone/>
            </a:pPr>
            <a:r>
              <a:rPr lang="en-IN" sz="2400" dirty="0">
                <a:latin typeface="Calibri"/>
                <a:ea typeface="Calibri"/>
                <a:cs typeface="Calibri"/>
                <a:sym typeface="Calibri"/>
              </a:rPr>
              <a:t>The project can be extended in several ways:</a:t>
            </a:r>
            <a:endParaRPr dirty="0"/>
          </a:p>
          <a:p>
            <a:pPr marR="0" lvl="0" algn="l" rtl="0">
              <a:spcBef>
                <a:spcPts val="0"/>
              </a:spcBef>
              <a:spcAft>
                <a:spcPts val="0"/>
              </a:spcAft>
              <a:buClr>
                <a:schemeClr val="dk1"/>
              </a:buClr>
              <a:buSzPts val="2400"/>
            </a:pPr>
            <a:r>
              <a:rPr lang="en-IN" sz="2400" b="1" dirty="0">
                <a:latin typeface="Calibri"/>
                <a:ea typeface="Calibri"/>
                <a:cs typeface="Calibri"/>
                <a:sym typeface="Calibri"/>
              </a:rPr>
              <a:t>1. Local Sequence Alignment</a:t>
            </a:r>
            <a:r>
              <a:rPr lang="en-IN" sz="2400" dirty="0">
                <a:latin typeface="Calibri"/>
                <a:ea typeface="Calibri"/>
                <a:cs typeface="Calibri"/>
                <a:sym typeface="Calibri"/>
              </a:rPr>
              <a:t> – Implement the </a:t>
            </a:r>
            <a:r>
              <a:rPr lang="en-IN" sz="2400" b="1" dirty="0">
                <a:latin typeface="Calibri"/>
                <a:ea typeface="Calibri"/>
                <a:cs typeface="Calibri"/>
                <a:sym typeface="Calibri"/>
              </a:rPr>
              <a:t>Smith–Waterman algorithm</a:t>
            </a:r>
            <a:r>
              <a:rPr lang="en-IN" sz="2400" dirty="0">
                <a:latin typeface="Calibri"/>
                <a:ea typeface="Calibri"/>
                <a:cs typeface="Calibri"/>
                <a:sym typeface="Calibri"/>
              </a:rPr>
              <a:t> to find highly similar local regions. </a:t>
            </a:r>
            <a:endParaRPr dirty="0"/>
          </a:p>
          <a:p>
            <a:pPr marR="0" lvl="0" algn="l" rtl="0">
              <a:spcBef>
                <a:spcPts val="0"/>
              </a:spcBef>
              <a:spcAft>
                <a:spcPts val="0"/>
              </a:spcAft>
              <a:buClr>
                <a:schemeClr val="dk1"/>
              </a:buClr>
              <a:buSzPts val="2400"/>
            </a:pPr>
            <a:r>
              <a:rPr lang="en-IN" sz="2400" b="1" dirty="0">
                <a:latin typeface="Calibri"/>
                <a:ea typeface="Calibri"/>
                <a:cs typeface="Calibri"/>
                <a:sym typeface="Calibri"/>
              </a:rPr>
              <a:t>2. Advanced Gap Penalties</a:t>
            </a:r>
            <a:r>
              <a:rPr lang="en-IN" sz="2400" dirty="0">
                <a:latin typeface="Calibri"/>
                <a:ea typeface="Calibri"/>
                <a:cs typeface="Calibri"/>
                <a:sym typeface="Calibri"/>
              </a:rPr>
              <a:t> – Support affine gap penalties for more biologically realistic alignments. </a:t>
            </a:r>
            <a:br>
              <a:rPr lang="en-IN" sz="2400" dirty="0">
                <a:latin typeface="Calibri"/>
                <a:ea typeface="Calibri"/>
                <a:cs typeface="Calibri"/>
                <a:sym typeface="Calibri"/>
              </a:rPr>
            </a:br>
            <a:br>
              <a:rPr lang="en-IN" sz="2400" dirty="0">
                <a:latin typeface="Calibri"/>
                <a:ea typeface="Calibri"/>
                <a:cs typeface="Calibri"/>
                <a:sym typeface="Calibri"/>
              </a:rPr>
            </a:br>
            <a:endParaRPr sz="1800" dirty="0">
              <a:latin typeface="Calibri"/>
              <a:ea typeface="Calibri"/>
              <a:cs typeface="Calibri"/>
              <a:sym typeface="Calibri"/>
            </a:endParaRPr>
          </a:p>
        </p:txBody>
      </p:sp>
      <p:sp>
        <p:nvSpPr>
          <p:cNvPr id="3" name="TextBox 2">
            <a:extLst>
              <a:ext uri="{FF2B5EF4-FFF2-40B4-BE49-F238E27FC236}">
                <a16:creationId xmlns:a16="http://schemas.microsoft.com/office/drawing/2014/main" id="{8035DA23-8673-ED71-3D93-04A1980512E1}"/>
              </a:ext>
            </a:extLst>
          </p:cNvPr>
          <p:cNvSpPr txBox="1"/>
          <p:nvPr/>
        </p:nvSpPr>
        <p:spPr>
          <a:xfrm>
            <a:off x="599767" y="2737355"/>
            <a:ext cx="11218607" cy="4431983"/>
          </a:xfrm>
          <a:prstGeom prst="rect">
            <a:avLst/>
          </a:prstGeom>
          <a:noFill/>
        </p:spPr>
        <p:txBody>
          <a:bodyPr wrap="square" rtlCol="0">
            <a:spAutoFit/>
          </a:bodyPr>
          <a:lstStyle/>
          <a:p>
            <a:pPr marL="342900" lvl="0" indent="-342900">
              <a:buClr>
                <a:schemeClr val="dk1"/>
              </a:buClr>
              <a:buSzPts val="2400"/>
              <a:buFont typeface="Calibri"/>
              <a:buAutoNum type="arabicPeriod"/>
            </a:pPr>
            <a:endParaRPr lang="en-IN" sz="2400" dirty="0"/>
          </a:p>
          <a:p>
            <a:pPr lvl="0">
              <a:buClr>
                <a:schemeClr val="dk1"/>
              </a:buClr>
              <a:buSzPts val="2400"/>
            </a:pPr>
            <a:r>
              <a:rPr lang="en-IN" sz="2400" b="1" dirty="0">
                <a:latin typeface="Calibri"/>
                <a:ea typeface="Calibri"/>
                <a:cs typeface="Calibri"/>
                <a:sym typeface="Calibri"/>
              </a:rPr>
              <a:t>3. Multiple Sequence Alignment</a:t>
            </a:r>
            <a:r>
              <a:rPr lang="en-IN" sz="2400" dirty="0">
                <a:latin typeface="Calibri"/>
                <a:ea typeface="Calibri"/>
                <a:cs typeface="Calibri"/>
                <a:sym typeface="Calibri"/>
              </a:rPr>
              <a:t> – Extend the system to align more than two sequences. </a:t>
            </a:r>
            <a:r>
              <a:rPr lang="en-IN" sz="2400" b="1" dirty="0">
                <a:latin typeface="Calibri"/>
                <a:ea typeface="Calibri"/>
                <a:cs typeface="Calibri"/>
                <a:sym typeface="Calibri"/>
              </a:rPr>
              <a:t>4.</a:t>
            </a:r>
            <a:r>
              <a:rPr lang="en-IN" sz="2400" dirty="0">
                <a:ea typeface="Calibri"/>
              </a:rPr>
              <a:t> </a:t>
            </a:r>
            <a:r>
              <a:rPr lang="en-IN" sz="2400" b="1" dirty="0">
                <a:latin typeface="Calibri"/>
                <a:ea typeface="Calibri"/>
                <a:cs typeface="Calibri"/>
                <a:sym typeface="Calibri"/>
              </a:rPr>
              <a:t>Protein Sequence Analysis</a:t>
            </a:r>
            <a:r>
              <a:rPr lang="en-IN" sz="2400" dirty="0">
                <a:latin typeface="Calibri"/>
                <a:ea typeface="Calibri"/>
                <a:cs typeface="Calibri"/>
                <a:sym typeface="Calibri"/>
              </a:rPr>
              <a:t> – Support scoring matrices such as </a:t>
            </a:r>
            <a:r>
              <a:rPr lang="en-IN" sz="2400" b="1" dirty="0">
                <a:latin typeface="Calibri"/>
                <a:ea typeface="Calibri"/>
                <a:cs typeface="Calibri"/>
                <a:sym typeface="Calibri"/>
              </a:rPr>
              <a:t>BLOSUM</a:t>
            </a:r>
            <a:r>
              <a:rPr lang="en-IN" sz="2400" dirty="0">
                <a:latin typeface="Calibri"/>
                <a:ea typeface="Calibri"/>
                <a:cs typeface="Calibri"/>
                <a:sym typeface="Calibri"/>
              </a:rPr>
              <a:t> and </a:t>
            </a:r>
            <a:r>
              <a:rPr lang="en-IN" sz="2400" b="1" dirty="0">
                <a:latin typeface="Calibri"/>
                <a:ea typeface="Calibri"/>
                <a:cs typeface="Calibri"/>
                <a:sym typeface="Calibri"/>
              </a:rPr>
              <a:t>PAM</a:t>
            </a:r>
            <a:r>
              <a:rPr lang="en-IN" sz="2400" dirty="0">
                <a:latin typeface="Calibri"/>
                <a:ea typeface="Calibri"/>
                <a:cs typeface="Calibri"/>
                <a:sym typeface="Calibri"/>
              </a:rPr>
              <a:t>. </a:t>
            </a:r>
            <a:endParaRPr lang="en-IN" sz="2400" dirty="0"/>
          </a:p>
          <a:p>
            <a:pPr lvl="0">
              <a:buClr>
                <a:schemeClr val="dk1"/>
              </a:buClr>
              <a:buSzPts val="2400"/>
            </a:pPr>
            <a:r>
              <a:rPr lang="en-IN" sz="2400" b="1" dirty="0">
                <a:latin typeface="Calibri"/>
                <a:ea typeface="Calibri"/>
                <a:cs typeface="Calibri"/>
                <a:sym typeface="Calibri"/>
              </a:rPr>
              <a:t>5. Visualization</a:t>
            </a:r>
            <a:r>
              <a:rPr lang="en-IN" sz="2400" dirty="0">
                <a:latin typeface="Calibri"/>
                <a:ea typeface="Calibri"/>
                <a:cs typeface="Calibri"/>
                <a:sym typeface="Calibri"/>
              </a:rPr>
              <a:t> – Display the dynamic programming matrix and alignment path graphically. </a:t>
            </a:r>
            <a:endParaRPr lang="en-IN" sz="2400" dirty="0"/>
          </a:p>
          <a:p>
            <a:pPr lvl="0">
              <a:buClr>
                <a:schemeClr val="dk1"/>
              </a:buClr>
              <a:buSzPts val="2400"/>
            </a:pPr>
            <a:r>
              <a:rPr lang="en-IN" sz="2400" b="1" dirty="0">
                <a:latin typeface="Calibri"/>
                <a:ea typeface="Calibri"/>
                <a:cs typeface="Calibri"/>
                <a:sym typeface="Calibri"/>
              </a:rPr>
              <a:t>6. Performance Optimization</a:t>
            </a:r>
            <a:r>
              <a:rPr lang="en-IN" sz="2400" dirty="0">
                <a:latin typeface="Calibri"/>
                <a:ea typeface="Calibri"/>
                <a:cs typeface="Calibri"/>
                <a:sym typeface="Calibri"/>
              </a:rPr>
              <a:t> – Use memory-optimized DP techniques for very large sequences. </a:t>
            </a:r>
            <a:endParaRPr lang="en-IN" sz="2400" dirty="0"/>
          </a:p>
          <a:p>
            <a:pPr lvl="0">
              <a:buClr>
                <a:schemeClr val="dk1"/>
              </a:buClr>
              <a:buSzPts val="2400"/>
            </a:pPr>
            <a:r>
              <a:rPr lang="en-IN" sz="2400" b="1" dirty="0">
                <a:latin typeface="Calibri"/>
                <a:ea typeface="Calibri"/>
                <a:cs typeface="Calibri"/>
                <a:sym typeface="Calibri"/>
              </a:rPr>
              <a:t>7.Sequence Database Integration</a:t>
            </a:r>
            <a:r>
              <a:rPr lang="en-IN" sz="2400" dirty="0">
                <a:latin typeface="Calibri"/>
                <a:ea typeface="Calibri"/>
                <a:cs typeface="Calibri"/>
                <a:sym typeface="Calibri"/>
              </a:rPr>
              <a:t> – Compare user sequences against biological databases. </a:t>
            </a:r>
            <a:endParaRPr lang="en-IN" sz="2400" dirty="0">
              <a:sym typeface="Calibri"/>
            </a:endParaRPr>
          </a:p>
          <a:p>
            <a:pPr lvl="0">
              <a:buClr>
                <a:schemeClr val="dk1"/>
              </a:buClr>
              <a:buSzPts val="2400"/>
            </a:pPr>
            <a:r>
              <a:rPr lang="en-IN" sz="2400" b="1" dirty="0">
                <a:latin typeface="Calibri"/>
                <a:ea typeface="Calibri"/>
                <a:cs typeface="Calibri"/>
                <a:sym typeface="Calibri"/>
              </a:rPr>
              <a:t>8. Interactive Interface</a:t>
            </a:r>
            <a:r>
              <a:rPr lang="en-IN" sz="2400" dirty="0">
                <a:latin typeface="Calibri"/>
                <a:ea typeface="Calibri"/>
                <a:cs typeface="Calibri"/>
                <a:sym typeface="Calibri"/>
              </a:rPr>
              <a:t> – Develop a web or desktop interface for easier sequence input and result visualization</a:t>
            </a:r>
            <a:endParaRPr lang="en-IN" sz="2400" dirty="0"/>
          </a:p>
          <a:p>
            <a:endParaRPr lang="en-IN" dirty="0"/>
          </a:p>
        </p:txBody>
      </p:sp>
      <p:pic>
        <p:nvPicPr>
          <p:cNvPr id="14" name="Picture 13" descr="KLH Bowrampet Campus | Top Engineering College in Hyderabad">
            <a:extLst>
              <a:ext uri="{FF2B5EF4-FFF2-40B4-BE49-F238E27FC236}">
                <a16:creationId xmlns:a16="http://schemas.microsoft.com/office/drawing/2014/main" id="{56DF17AE-CC33-E2B3-DBBA-688A8FAFE91A}"/>
              </a:ext>
            </a:extLst>
          </p:cNvPr>
          <p:cNvPicPr>
            <a:picLocks noChangeAspect="1"/>
          </p:cNvPicPr>
          <p:nvPr/>
        </p:nvPicPr>
        <p:blipFill>
          <a:blip r:embed="rId3"/>
          <a:srcRect t="31542"/>
          <a:stretch>
            <a:fillRect/>
          </a:stretch>
        </p:blipFill>
        <p:spPr>
          <a:xfrm>
            <a:off x="78658" y="0"/>
            <a:ext cx="2240235" cy="1139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p:nvPr/>
        </p:nvSpPr>
        <p:spPr>
          <a:xfrm>
            <a:off x="3736107" y="2619376"/>
            <a:ext cx="4946253" cy="135782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chemeClr val="lt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Axis</Template>
  <TotalTime>9812</TotalTime>
  <Words>965</Words>
  <Application>Microsoft Office PowerPoint</Application>
  <PresentationFormat>Widescreen</PresentationFormat>
  <Paragraphs>78</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Century Gothic\</vt:lpstr>
      <vt:lpstr>Courier New</vt:lpstr>
      <vt:lpstr>Neue Haas Grotesk Text Pro</vt:lpstr>
      <vt:lpstr>Times New Roman</vt:lpstr>
      <vt:lpstr>Axis</vt:lpstr>
      <vt:lpstr>       Data Structures and Algorithms -3 (25CS2103E) Global DNA and Protein Sequence Alignment Using the Needleman–Wunsch Algorithm </vt:lpstr>
      <vt:lpstr>PowerPoint Presentation</vt:lpstr>
      <vt:lpstr>PowerPoint Presentation</vt:lpstr>
      <vt:lpstr>PowerPoint Presentation</vt:lpstr>
      <vt:lpstr>Sequence alignment is an important technique in bioinformatics used to compare DNA, RNA, and protein sequences. Alignment helps identify similarities, differences, and evolutionary relationships between biological sequences. The Needleman–Wunsch algorithm is a classical algorithm used for global sequence alignment. It uses Dynamic Programming to find the optimal alignment between two sequences. The algorithm considers matches, mismatches, and gaps using a scoring system. A scoring matrix is constructed and then traced back to obtain the optimal alignment. Global alignment considers the entire length of both sequences.</vt:lpstr>
      <vt:lpstr>Problem statement: Comparing DNA and protein sequences manually is difficult for long sequences. Biological sequences may contain matches, mismatches, and gaps. A systematic method is required to find the optimal alignment between two sequences. Objectives: The system should calculate an alignment score based on predefined scoring rules. It should correctly handle matches, mismatches, and gap penalties. The system should display the final aligned sequences clearly.   </vt:lpstr>
      <vt:lpst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Anushka</dc:creator>
  <cp:lastModifiedBy>Anushka Kulkarni</cp:lastModifiedBy>
  <cp:revision>2</cp:revision>
  <dcterms:modified xsi:type="dcterms:W3CDTF">2026-10-11T15:34:59Z</dcterms:modified>
</cp:coreProperties>
</file>