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115"/>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62B"/>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27821"/>
            <a:ext cx="10566400" cy="4117379"/>
          </a:xfrm>
          <a:prstGeom prst="rect">
            <a:avLst/>
          </a:prstGeom>
          <a:noFill/>
          <a:ln/>
        </p:spPr>
        <p:txBody>
          <a:bodyPr wrap="square" lIns="0" tIns="0" rIns="0" bIns="0" rtlCol="0" anchor="t"/>
          <a:lstStyle>
            <a:lvl1pPr algn="l" indent="0" marL="0">
              <a:lnSpc>
                <a:spcPct val="140000"/>
              </a:lnSpc>
              <a:buNone/>
              <a:defRPr lang="en-US" sz="1600" dirty="0">
                <a:solidFill>
                  <a:srgbClr val="14262B"/>
                </a:solidFill>
                <a:latin typeface="Georgia" pitchFamily="34" charset="0"/>
                <a:ea typeface="Georgia" pitchFamily="34" charset="-122"/>
                <a:cs typeface="Georgia"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115"/>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62B"/>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27821"/>
            <a:ext cx="10566400" cy="4117379"/>
          </a:xfrm>
          <a:prstGeom prst="rect">
            <a:avLst/>
          </a:prstGeom>
          <a:noFill/>
          <a:ln/>
        </p:spPr>
        <p:txBody>
          <a:bodyPr wrap="square" lIns="0" tIns="0" rIns="0" bIns="0" rtlCol="0" anchor="t"/>
          <a:lstStyle>
            <a:lvl1pPr algn="l" indent="0" marL="0">
              <a:lnSpc>
                <a:spcPct val="140000"/>
              </a:lnSpc>
              <a:buNone/>
              <a:defRPr lang="en-US" sz="1600" dirty="0">
                <a:solidFill>
                  <a:srgbClr val="14262B"/>
                </a:solidFill>
                <a:latin typeface="Georgia" pitchFamily="34" charset="0"/>
                <a:ea typeface="Georgia" pitchFamily="34" charset="-122"/>
                <a:cs typeface="Georgia"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2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A65A"/>
          </a:solidFill>
          <a:ln/>
        </p:spPr>
      </p:sp>
      <p:pic>
        <p:nvPicPr>
          <p:cNvPr id="3" name="Image 0" descr="DNA double helix">    </p:cNvPr>
          <p:cNvPicPr>
            <a:picLocks noChangeAspect="1"/>
          </p:cNvPicPr>
          <p:nvPr/>
        </p:nvPicPr>
        <p:blipFill>
          <a:blip r:embed="rId1"/>
          <a:srcRect l="0" r="0" t="0" b="0"/>
          <a:stretch/>
        </p:blipFill>
        <p:spPr>
          <a:xfrm>
            <a:off x="7874000" y="812800"/>
            <a:ext cx="3556000" cy="5232400"/>
          </a:xfrm>
          <a:prstGeom prst="rect">
            <a:avLst/>
          </a:prstGeom>
        </p:spPr>
      </p:pic>
      <p:sp>
        <p:nvSpPr>
          <p:cNvPr id="4" name="Text 1"/>
          <p:cNvSpPr/>
          <p:nvPr/>
        </p:nvSpPr>
        <p:spPr>
          <a:xfrm>
            <a:off x="812800" y="1020498"/>
            <a:ext cx="66713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Georgia" pitchFamily="18" charset="0"/>
                <a:ea typeface="Georgia" pitchFamily="18" charset="-122"/>
                <a:cs typeface="Georgia" pitchFamily="18" charset="-120"/>
              </a:rPr>
              <a:t>Data Structures and Algorithms-3 (25CS2103E)</a:t>
            </a:r>
            <a:endParaRPr lang="en-US" sz="1500" dirty="0"/>
          </a:p>
        </p:txBody>
      </p:sp>
      <p:sp>
        <p:nvSpPr>
          <p:cNvPr id="5" name="Text 2"/>
          <p:cNvSpPr/>
          <p:nvPr>
            <p:ph type="title"/>
          </p:nvPr>
        </p:nvSpPr>
        <p:spPr>
          <a:xfrm>
            <a:off x="812800" y="1541198"/>
            <a:ext cx="6671310" cy="214868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1EDE4"/>
                </a:solidFill>
                <a:latin typeface="Georgia" pitchFamily="18" charset="0"/>
                <a:ea typeface="Georgia" pitchFamily="18" charset="-122"/>
                <a:cs typeface="Georgia" pitchFamily="18" charset="-120"/>
              </a:rPr>
              <a:t>Global DNA and Protein Sequence Alignment Using the Needleman–Wunsch Algorithm</a:t>
            </a:r>
            <a:endParaRPr lang="en-US" sz="3800" dirty="0"/>
          </a:p>
        </p:txBody>
      </p:sp>
      <p:sp>
        <p:nvSpPr>
          <p:cNvPr id="6" name="Shape 3"/>
          <p:cNvSpPr/>
          <p:nvPr/>
        </p:nvSpPr>
        <p:spPr>
          <a:xfrm>
            <a:off x="812800" y="3918479"/>
            <a:ext cx="1016000" cy="50800"/>
          </a:xfrm>
          <a:prstGeom prst="roundRect">
            <a:avLst>
              <a:gd name="adj" fmla="val 50000"/>
            </a:avLst>
          </a:prstGeom>
          <a:solidFill>
            <a:srgbClr val="F2A65A"/>
          </a:solidFill>
          <a:ln/>
        </p:spPr>
      </p:sp>
      <p:sp>
        <p:nvSpPr>
          <p:cNvPr id="7" name="Text 4"/>
          <p:cNvSpPr/>
          <p:nvPr/>
        </p:nvSpPr>
        <p:spPr>
          <a:xfrm>
            <a:off x="812800" y="4223279"/>
            <a:ext cx="667131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1EDE4"/>
                </a:solidFill>
                <a:latin typeface="Georgia" pitchFamily="18" charset="0"/>
                <a:ea typeface="Georgia" pitchFamily="18" charset="-122"/>
                <a:cs typeface="Georgia" pitchFamily="18" charset="-120"/>
              </a:rPr>
              <a:t>S. Hasini Reddy · 2520030287</a:t>
            </a:r>
            <a:endParaRPr lang="en-US" sz="1500" dirty="0"/>
          </a:p>
        </p:txBody>
      </p:sp>
      <p:sp>
        <p:nvSpPr>
          <p:cNvPr id="8" name="Text 5"/>
          <p:cNvSpPr/>
          <p:nvPr/>
        </p:nvSpPr>
        <p:spPr>
          <a:xfrm>
            <a:off x="812800" y="4534429"/>
            <a:ext cx="667131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1EDE4"/>
                </a:solidFill>
                <a:latin typeface="Georgia" pitchFamily="18" charset="0"/>
                <a:ea typeface="Georgia" pitchFamily="18" charset="-122"/>
                <a:cs typeface="Georgia" pitchFamily="18" charset="-120"/>
              </a:rPr>
              <a:t>Anushka Kulkarni · 2520030501</a:t>
            </a:r>
            <a:endParaRPr lang="en-US" sz="1500" dirty="0"/>
          </a:p>
        </p:txBody>
      </p:sp>
      <p:sp>
        <p:nvSpPr>
          <p:cNvPr id="9" name="Text 6"/>
          <p:cNvSpPr/>
          <p:nvPr/>
        </p:nvSpPr>
        <p:spPr>
          <a:xfrm>
            <a:off x="812800" y="4845579"/>
            <a:ext cx="667131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1EDE4"/>
                </a:solidFill>
                <a:latin typeface="Georgia" pitchFamily="18" charset="0"/>
                <a:ea typeface="Georgia" pitchFamily="18" charset="-122"/>
                <a:cs typeface="Georgia" pitchFamily="18" charset="-120"/>
              </a:rPr>
              <a:t>Akshaya Minnekanti · 2520030516</a:t>
            </a:r>
            <a:endParaRPr lang="en-US" sz="1500" dirty="0"/>
          </a:p>
        </p:txBody>
      </p:sp>
      <p:sp>
        <p:nvSpPr>
          <p:cNvPr id="10" name="Text 7"/>
          <p:cNvSpPr/>
          <p:nvPr/>
        </p:nvSpPr>
        <p:spPr>
          <a:xfrm>
            <a:off x="812800" y="5385329"/>
            <a:ext cx="667131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65A"/>
                </a:solidFill>
                <a:latin typeface="Georgia" pitchFamily="18" charset="0"/>
                <a:ea typeface="Georgia" pitchFamily="18" charset="-122"/>
                <a:cs typeface="Georgia" pitchFamily="18" charset="-120"/>
              </a:rPr>
              <a:t>Under the guidance of Dr. Yamini Devi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E7C7B"/>
          </a:solidFill>
          <a:ln/>
        </p:spPr>
      </p:sp>
      <p:sp>
        <p:nvSpPr>
          <p:cNvPr id="3" name="Text 1"/>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01 · ABSTRACT</a:t>
            </a:r>
            <a:endParaRPr lang="en-US" sz="1300" dirty="0"/>
          </a:p>
        </p:txBody>
      </p:sp>
      <p:sp>
        <p:nvSpPr>
          <p:cNvPr id="4" name="Text 2"/>
          <p:cNvSpPr/>
          <p:nvPr>
            <p:ph type="title"/>
          </p:nvPr>
        </p:nvSpPr>
        <p:spPr>
          <a:xfrm>
            <a:off x="812800" y="1120114"/>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62B"/>
                </a:solidFill>
                <a:latin typeface="Georgia" pitchFamily="18" charset="0"/>
                <a:ea typeface="Georgia" pitchFamily="18" charset="-122"/>
                <a:cs typeface="Georgia" pitchFamily="18" charset="-120"/>
              </a:rPr>
              <a:t>Abstract</a:t>
            </a:r>
            <a:endParaRPr lang="en-US" sz="3600" dirty="0"/>
          </a:p>
        </p:txBody>
      </p:sp>
      <p:sp>
        <p:nvSpPr>
          <p:cNvPr id="5" name="Shape 3"/>
          <p:cNvSpPr/>
          <p:nvPr/>
        </p:nvSpPr>
        <p:spPr>
          <a:xfrm>
            <a:off x="812800" y="1699220"/>
            <a:ext cx="762000" cy="50800"/>
          </a:xfrm>
          <a:prstGeom prst="roundRect">
            <a:avLst>
              <a:gd name="adj" fmla="val 50000"/>
            </a:avLst>
          </a:prstGeom>
          <a:solidFill>
            <a:srgbClr val="F2A65A"/>
          </a:solidFill>
          <a:ln/>
        </p:spPr>
      </p:sp>
      <p:sp>
        <p:nvSpPr>
          <p:cNvPr id="6" name="Text 4"/>
          <p:cNvSpPr/>
          <p:nvPr/>
        </p:nvSpPr>
        <p:spPr>
          <a:xfrm>
            <a:off x="812800" y="2004020"/>
            <a:ext cx="6404444" cy="2641600"/>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14262B"/>
                </a:solidFill>
                <a:latin typeface="Georgia" pitchFamily="18" charset="0"/>
                <a:ea typeface="Georgia" pitchFamily="18" charset="-122"/>
                <a:cs typeface="Georgia" pitchFamily="18" charset="-120"/>
              </a:rPr>
              <a:t>A bioinformatics application for global sequence alignment with the Needleman–Wunsch algorithm. It compares DNA and protein sequences using dynamic programming, scoring rules and gap penalties, then reports the alignment score, matched and mismatched regions, and the aligned sequences.</a:t>
            </a:r>
            <a:endParaRPr lang="en-US" sz="1800" dirty="0"/>
          </a:p>
        </p:txBody>
      </p:sp>
      <p:sp>
        <p:nvSpPr>
          <p:cNvPr id="7" name="Shape 5"/>
          <p:cNvSpPr/>
          <p:nvPr/>
        </p:nvSpPr>
        <p:spPr>
          <a:xfrm>
            <a:off x="7237082" y="2007195"/>
            <a:ext cx="4138943" cy="764117"/>
          </a:xfrm>
          <a:prstGeom prst="roundRect">
            <a:avLst>
              <a:gd name="adj" fmla="val 12881"/>
            </a:avLst>
          </a:prstGeom>
          <a:solidFill>
            <a:srgbClr val="FBF9F4"/>
          </a:solidFill>
          <a:ln w="6350">
            <a:solidFill>
              <a:srgbClr val="D9D4C7"/>
            </a:solidFill>
            <a:prstDash val="solid"/>
          </a:ln>
        </p:spPr>
      </p:sp>
      <p:sp>
        <p:nvSpPr>
          <p:cNvPr id="8" name="Text 6"/>
          <p:cNvSpPr/>
          <p:nvPr/>
        </p:nvSpPr>
        <p:spPr>
          <a:xfrm>
            <a:off x="7466740" y="2186054"/>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100"/>
              </a:lnSpc>
              <a:buNone/>
            </a:pPr>
            <a:r>
              <a:rPr lang="en-US" sz="1500" b="1" dirty="0">
                <a:solidFill>
                  <a:srgbClr val="FBF9F4"/>
                </a:solidFill>
                <a:latin typeface="Georgia" pitchFamily="18" charset="0"/>
                <a:ea typeface="Georgia" pitchFamily="18" charset="-122"/>
                <a:cs typeface="Georgia" pitchFamily="18" charset="-120"/>
              </a:rPr>
              <a:t>1</a:t>
            </a:r>
            <a:endParaRPr lang="en-US" sz="1500" dirty="0"/>
          </a:p>
        </p:txBody>
      </p:sp>
      <p:sp>
        <p:nvSpPr>
          <p:cNvPr id="9" name="Text 7"/>
          <p:cNvSpPr/>
          <p:nvPr/>
        </p:nvSpPr>
        <p:spPr>
          <a:xfrm>
            <a:off x="8000140" y="2247040"/>
            <a:ext cx="286361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62B"/>
                </a:solidFill>
                <a:latin typeface="Georgia" pitchFamily="18" charset="0"/>
                <a:ea typeface="Georgia" pitchFamily="18" charset="-122"/>
                <a:cs typeface="Georgia" pitchFamily="18" charset="-120"/>
              </a:rPr>
              <a:t>DNA and protein input</a:t>
            </a:r>
            <a:endParaRPr lang="en-US" sz="1600" dirty="0"/>
          </a:p>
        </p:txBody>
      </p:sp>
      <p:sp>
        <p:nvSpPr>
          <p:cNvPr id="10" name="Shape 8"/>
          <p:cNvSpPr/>
          <p:nvPr/>
        </p:nvSpPr>
        <p:spPr>
          <a:xfrm>
            <a:off x="7237082" y="2930062"/>
            <a:ext cx="4138943" cy="764117"/>
          </a:xfrm>
          <a:prstGeom prst="roundRect">
            <a:avLst>
              <a:gd name="adj" fmla="val 12881"/>
            </a:avLst>
          </a:prstGeom>
          <a:solidFill>
            <a:srgbClr val="FBF9F4"/>
          </a:solidFill>
          <a:ln w="6350">
            <a:solidFill>
              <a:srgbClr val="D9D4C7"/>
            </a:solidFill>
            <a:prstDash val="solid"/>
          </a:ln>
        </p:spPr>
      </p:sp>
      <p:sp>
        <p:nvSpPr>
          <p:cNvPr id="11" name="Text 9"/>
          <p:cNvSpPr/>
          <p:nvPr/>
        </p:nvSpPr>
        <p:spPr>
          <a:xfrm>
            <a:off x="7466740" y="3108920"/>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100"/>
              </a:lnSpc>
              <a:buNone/>
            </a:pPr>
            <a:r>
              <a:rPr lang="en-US" sz="1500" b="1" dirty="0">
                <a:solidFill>
                  <a:srgbClr val="FBF9F4"/>
                </a:solidFill>
                <a:latin typeface="Georgia" pitchFamily="18" charset="0"/>
                <a:ea typeface="Georgia" pitchFamily="18" charset="-122"/>
                <a:cs typeface="Georgia" pitchFamily="18" charset="-120"/>
              </a:rPr>
              <a:t>2</a:t>
            </a:r>
            <a:endParaRPr lang="en-US" sz="1500" dirty="0"/>
          </a:p>
        </p:txBody>
      </p:sp>
      <p:sp>
        <p:nvSpPr>
          <p:cNvPr id="12" name="Text 10"/>
          <p:cNvSpPr/>
          <p:nvPr/>
        </p:nvSpPr>
        <p:spPr>
          <a:xfrm>
            <a:off x="8000140" y="3169907"/>
            <a:ext cx="292441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62B"/>
                </a:solidFill>
                <a:latin typeface="Georgia" pitchFamily="18" charset="0"/>
                <a:ea typeface="Georgia" pitchFamily="18" charset="-122"/>
                <a:cs typeface="Georgia" pitchFamily="18" charset="-120"/>
              </a:rPr>
              <a:t>Dynamic programming</a:t>
            </a:r>
            <a:endParaRPr lang="en-US" sz="1600" dirty="0"/>
          </a:p>
        </p:txBody>
      </p:sp>
      <p:sp>
        <p:nvSpPr>
          <p:cNvPr id="13" name="Shape 11"/>
          <p:cNvSpPr/>
          <p:nvPr/>
        </p:nvSpPr>
        <p:spPr>
          <a:xfrm>
            <a:off x="7237082" y="3852929"/>
            <a:ext cx="4138943" cy="764117"/>
          </a:xfrm>
          <a:prstGeom prst="roundRect">
            <a:avLst>
              <a:gd name="adj" fmla="val 12881"/>
            </a:avLst>
          </a:prstGeom>
          <a:solidFill>
            <a:srgbClr val="FBF9F4"/>
          </a:solidFill>
          <a:ln w="6350">
            <a:solidFill>
              <a:srgbClr val="D9D4C7"/>
            </a:solidFill>
            <a:prstDash val="solid"/>
          </a:ln>
        </p:spPr>
      </p:sp>
      <p:sp>
        <p:nvSpPr>
          <p:cNvPr id="14" name="Text 12"/>
          <p:cNvSpPr/>
          <p:nvPr/>
        </p:nvSpPr>
        <p:spPr>
          <a:xfrm>
            <a:off x="7466740" y="4031787"/>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100"/>
              </a:lnSpc>
              <a:buNone/>
            </a:pPr>
            <a:r>
              <a:rPr lang="en-US" sz="1500" b="1" dirty="0">
                <a:solidFill>
                  <a:srgbClr val="FBF9F4"/>
                </a:solidFill>
                <a:latin typeface="Georgia" pitchFamily="18" charset="0"/>
                <a:ea typeface="Georgia" pitchFamily="18" charset="-122"/>
                <a:cs typeface="Georgia" pitchFamily="18" charset="-120"/>
              </a:rPr>
              <a:t>3</a:t>
            </a:r>
            <a:endParaRPr lang="en-US" sz="1500" dirty="0"/>
          </a:p>
        </p:txBody>
      </p:sp>
      <p:sp>
        <p:nvSpPr>
          <p:cNvPr id="15" name="Text 13"/>
          <p:cNvSpPr/>
          <p:nvPr/>
        </p:nvSpPr>
        <p:spPr>
          <a:xfrm>
            <a:off x="8000140" y="4092773"/>
            <a:ext cx="337271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62B"/>
                </a:solidFill>
                <a:latin typeface="Georgia" pitchFamily="18" charset="0"/>
                <a:ea typeface="Georgia" pitchFamily="18" charset="-122"/>
                <a:cs typeface="Georgia" pitchFamily="18" charset="-120"/>
              </a:rPr>
              <a:t>Optimal alignment and score</a:t>
            </a:r>
            <a:endParaRPr lang="en-US" sz="1600" dirty="0"/>
          </a:p>
        </p:txBody>
      </p:sp>
      <p:sp>
        <p:nvSpPr>
          <p:cNvPr id="16" name="Text 14"/>
          <p:cNvSpPr/>
          <p:nvPr/>
        </p:nvSpPr>
        <p:spPr>
          <a:xfrm>
            <a:off x="812800" y="6238280"/>
            <a:ext cx="4077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DSA-3 · Needleman–Wunsch Sequence Alignment</a:t>
            </a:r>
            <a:endParaRPr lang="en-US" sz="1200" dirty="0"/>
          </a:p>
        </p:txBody>
      </p:sp>
      <p:sp>
        <p:nvSpPr>
          <p:cNvPr id="17" name="Text 15"/>
          <p:cNvSpPr/>
          <p:nvPr/>
        </p:nvSpPr>
        <p:spPr>
          <a:xfrm>
            <a:off x="11062825" y="6238280"/>
            <a:ext cx="3796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2 / 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E7C7B"/>
          </a:solidFill>
          <a:ln/>
        </p:spPr>
      </p:sp>
      <p:sp>
        <p:nvSpPr>
          <p:cNvPr id="3" name="Text 1"/>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02 · BACKGROUND</a:t>
            </a:r>
            <a:endParaRPr lang="en-US" sz="1300" dirty="0"/>
          </a:p>
        </p:txBody>
      </p:sp>
      <p:sp>
        <p:nvSpPr>
          <p:cNvPr id="4" name="Text 2"/>
          <p:cNvSpPr/>
          <p:nvPr>
            <p:ph type="title"/>
          </p:nvPr>
        </p:nvSpPr>
        <p:spPr>
          <a:xfrm>
            <a:off x="812800" y="1120115"/>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62B"/>
                </a:solidFill>
                <a:latin typeface="Georgia" pitchFamily="18" charset="0"/>
                <a:ea typeface="Georgia" pitchFamily="18" charset="-122"/>
                <a:cs typeface="Georgia" pitchFamily="18" charset="-120"/>
              </a:rPr>
              <a:t>Introduction and Literature Survey</a:t>
            </a:r>
            <a:endParaRPr lang="en-US" sz="3600" dirty="0"/>
          </a:p>
        </p:txBody>
      </p:sp>
      <p:sp>
        <p:nvSpPr>
          <p:cNvPr id="5" name="Shape 3"/>
          <p:cNvSpPr/>
          <p:nvPr/>
        </p:nvSpPr>
        <p:spPr>
          <a:xfrm>
            <a:off x="812800" y="1699220"/>
            <a:ext cx="762000" cy="50800"/>
          </a:xfrm>
          <a:prstGeom prst="roundRect">
            <a:avLst>
              <a:gd name="adj" fmla="val 50000"/>
            </a:avLst>
          </a:prstGeom>
          <a:solidFill>
            <a:srgbClr val="F2A65A"/>
          </a:solidFill>
          <a:ln/>
        </p:spPr>
      </p:sp>
      <p:sp>
        <p:nvSpPr>
          <p:cNvPr id="6" name="Shape 4"/>
          <p:cNvSpPr/>
          <p:nvPr/>
        </p:nvSpPr>
        <p:spPr>
          <a:xfrm>
            <a:off x="815975" y="2007195"/>
            <a:ext cx="5175250" cy="2607469"/>
          </a:xfrm>
          <a:prstGeom prst="roundRect">
            <a:avLst>
              <a:gd name="adj" fmla="val 3775"/>
            </a:avLst>
          </a:prstGeom>
          <a:solidFill>
            <a:srgbClr val="FBF9F4"/>
          </a:solidFill>
          <a:ln w="6350">
            <a:solidFill>
              <a:srgbClr val="D9D4C7"/>
            </a:solidFill>
            <a:prstDash val="solid"/>
          </a:ln>
        </p:spPr>
      </p:sp>
      <p:sp>
        <p:nvSpPr>
          <p:cNvPr id="7" name="Text 5"/>
          <p:cNvSpPr/>
          <p:nvPr/>
        </p:nvSpPr>
        <p:spPr>
          <a:xfrm>
            <a:off x="1045633" y="2236854"/>
            <a:ext cx="485741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7C7B"/>
                </a:solidFill>
                <a:latin typeface="Georgia" pitchFamily="18" charset="0"/>
                <a:ea typeface="Georgia" pitchFamily="18" charset="-122"/>
                <a:cs typeface="Georgia" pitchFamily="18" charset="-120"/>
              </a:rPr>
              <a:t>Introduction</a:t>
            </a:r>
            <a:endParaRPr lang="en-US" sz="1700" dirty="0"/>
          </a:p>
        </p:txBody>
      </p:sp>
      <p:sp>
        <p:nvSpPr>
          <p:cNvPr id="8" name="Text 6"/>
          <p:cNvSpPr/>
          <p:nvPr/>
        </p:nvSpPr>
        <p:spPr>
          <a:xfrm>
            <a:off x="1045633" y="2584782"/>
            <a:ext cx="4857411"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2B"/>
                </a:solidFill>
                <a:latin typeface="Georgia" pitchFamily="18" charset="0"/>
                <a:ea typeface="Georgia" pitchFamily="18" charset="-122"/>
                <a:cs typeface="Georgia" pitchFamily="18" charset="-120"/>
              </a:rPr>
              <a:t>Sequence alignment compares DNA and protein sequences to find similarities. Needleman–Wunsch scores matches, mismatches and gaps to find the optimal alignment.</a:t>
            </a:r>
            <a:endParaRPr lang="en-US" sz="1600" dirty="0"/>
          </a:p>
        </p:txBody>
      </p:sp>
      <p:sp>
        <p:nvSpPr>
          <p:cNvPr id="9" name="Shape 7"/>
          <p:cNvSpPr/>
          <p:nvPr/>
        </p:nvSpPr>
        <p:spPr>
          <a:xfrm>
            <a:off x="6200775" y="2007195"/>
            <a:ext cx="5175250" cy="2607469"/>
          </a:xfrm>
          <a:prstGeom prst="roundRect">
            <a:avLst>
              <a:gd name="adj" fmla="val 3775"/>
            </a:avLst>
          </a:prstGeom>
          <a:solidFill>
            <a:srgbClr val="FBF9F4"/>
          </a:solidFill>
          <a:ln w="6350">
            <a:solidFill>
              <a:srgbClr val="D9D4C7"/>
            </a:solidFill>
            <a:prstDash val="solid"/>
          </a:ln>
        </p:spPr>
      </p:sp>
      <p:sp>
        <p:nvSpPr>
          <p:cNvPr id="10" name="Text 8"/>
          <p:cNvSpPr/>
          <p:nvPr/>
        </p:nvSpPr>
        <p:spPr>
          <a:xfrm>
            <a:off x="6430433" y="2236854"/>
            <a:ext cx="485741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7691F"/>
                </a:solidFill>
                <a:latin typeface="Georgia" pitchFamily="18" charset="0"/>
                <a:ea typeface="Georgia" pitchFamily="18" charset="-122"/>
                <a:cs typeface="Georgia" pitchFamily="18" charset="-120"/>
              </a:rPr>
              <a:t>Literature survey</a:t>
            </a:r>
            <a:endParaRPr lang="en-US" sz="1700" dirty="0"/>
          </a:p>
        </p:txBody>
      </p:sp>
      <p:sp>
        <p:nvSpPr>
          <p:cNvPr id="11" name="Text 9"/>
          <p:cNvSpPr/>
          <p:nvPr/>
        </p:nvSpPr>
        <p:spPr>
          <a:xfrm>
            <a:off x="6476153" y="2584782"/>
            <a:ext cx="4805214" cy="1825625"/>
          </a:xfrm>
          <a:prstGeom prst="rect">
            <a:avLst/>
          </a:prstGeom>
          <a:noFill/>
          <a:ln/>
        </p:spPr>
        <p:txBody>
          <a:bodyPr wrap="square" lIns="0" tIns="0" rIns="0" bIns="0" rtlCol="0" anchor="t">
            <a:normAutofit/>
          </a:bodyPr>
          <a:lstStyle/>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Alignment reveals similarities and evolutionary relationships</a:t>
            </a:r>
            <a:endParaRPr lang="en-US" sz="1500" dirty="0"/>
          </a:p>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Needleman–Wunsch is the classical global alignment algorithm</a:t>
            </a:r>
            <a:endParaRPr lang="en-US" sz="1500" dirty="0"/>
          </a:p>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A scoring matrix is built, then traced back</a:t>
            </a:r>
            <a:endParaRPr lang="en-US" sz="1500" dirty="0"/>
          </a:p>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Global alignment covers the full length of both sequences</a:t>
            </a:r>
            <a:endParaRPr lang="en-US" sz="1500" dirty="0"/>
          </a:p>
        </p:txBody>
      </p:sp>
      <p:sp>
        <p:nvSpPr>
          <p:cNvPr id="12" name="Text 10"/>
          <p:cNvSpPr/>
          <p:nvPr/>
        </p:nvSpPr>
        <p:spPr>
          <a:xfrm>
            <a:off x="812800" y="6238280"/>
            <a:ext cx="4077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DSA-3 · Needleman–Wunsch Sequence Alignment</a:t>
            </a:r>
            <a:endParaRPr lang="en-US" sz="1200" dirty="0"/>
          </a:p>
        </p:txBody>
      </p:sp>
      <p:sp>
        <p:nvSpPr>
          <p:cNvPr id="13" name="Text 11"/>
          <p:cNvSpPr/>
          <p:nvPr/>
        </p:nvSpPr>
        <p:spPr>
          <a:xfrm>
            <a:off x="11063883" y="6238280"/>
            <a:ext cx="3783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3 /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E7C7B"/>
          </a:solidFill>
          <a:ln/>
        </p:spPr>
      </p:sp>
      <p:sp>
        <p:nvSpPr>
          <p:cNvPr id="3" name="Text 1"/>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03 · PROBLEM</a:t>
            </a:r>
            <a:endParaRPr lang="en-US" sz="1300" dirty="0"/>
          </a:p>
        </p:txBody>
      </p:sp>
      <p:sp>
        <p:nvSpPr>
          <p:cNvPr id="4" name="Text 2"/>
          <p:cNvSpPr/>
          <p:nvPr>
            <p:ph type="title"/>
          </p:nvPr>
        </p:nvSpPr>
        <p:spPr>
          <a:xfrm>
            <a:off x="812800" y="1120115"/>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62B"/>
                </a:solidFill>
                <a:latin typeface="Georgia" pitchFamily="18" charset="0"/>
                <a:ea typeface="Georgia" pitchFamily="18" charset="-122"/>
                <a:cs typeface="Georgia" pitchFamily="18" charset="-120"/>
              </a:rPr>
              <a:t>Problem Statement and Objectives</a:t>
            </a:r>
            <a:endParaRPr lang="en-US" sz="3600" dirty="0"/>
          </a:p>
        </p:txBody>
      </p:sp>
      <p:sp>
        <p:nvSpPr>
          <p:cNvPr id="5" name="Shape 3"/>
          <p:cNvSpPr/>
          <p:nvPr/>
        </p:nvSpPr>
        <p:spPr>
          <a:xfrm>
            <a:off x="812800" y="1699220"/>
            <a:ext cx="762000" cy="50800"/>
          </a:xfrm>
          <a:prstGeom prst="roundRect">
            <a:avLst>
              <a:gd name="adj" fmla="val 50000"/>
            </a:avLst>
          </a:prstGeom>
          <a:solidFill>
            <a:srgbClr val="F2A65A"/>
          </a:solidFill>
          <a:ln/>
        </p:spPr>
      </p:sp>
      <p:sp>
        <p:nvSpPr>
          <p:cNvPr id="6" name="Shape 4"/>
          <p:cNvSpPr/>
          <p:nvPr/>
        </p:nvSpPr>
        <p:spPr>
          <a:xfrm>
            <a:off x="815975" y="2007195"/>
            <a:ext cx="5175250" cy="2178778"/>
          </a:xfrm>
          <a:prstGeom prst="roundRect">
            <a:avLst>
              <a:gd name="adj" fmla="val 4517"/>
            </a:avLst>
          </a:prstGeom>
          <a:solidFill>
            <a:srgbClr val="FBF9F4"/>
          </a:solidFill>
          <a:ln w="6350">
            <a:solidFill>
              <a:srgbClr val="D9D4C7"/>
            </a:solidFill>
            <a:prstDash val="solid"/>
          </a:ln>
        </p:spPr>
      </p:sp>
      <p:sp>
        <p:nvSpPr>
          <p:cNvPr id="7" name="Text 5"/>
          <p:cNvSpPr/>
          <p:nvPr/>
        </p:nvSpPr>
        <p:spPr>
          <a:xfrm>
            <a:off x="1045633" y="2236854"/>
            <a:ext cx="485741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C8553D"/>
                </a:solidFill>
                <a:latin typeface="Georgia" pitchFamily="18" charset="0"/>
                <a:ea typeface="Georgia" pitchFamily="18" charset="-122"/>
                <a:cs typeface="Georgia" pitchFamily="18" charset="-120"/>
              </a:rPr>
              <a:t>Problem statement</a:t>
            </a:r>
            <a:endParaRPr lang="en-US" sz="1700" dirty="0"/>
          </a:p>
        </p:txBody>
      </p:sp>
      <p:sp>
        <p:nvSpPr>
          <p:cNvPr id="8" name="Text 6"/>
          <p:cNvSpPr/>
          <p:nvPr/>
        </p:nvSpPr>
        <p:spPr>
          <a:xfrm>
            <a:off x="1084241" y="2584782"/>
            <a:ext cx="4812326" cy="1122627"/>
          </a:xfrm>
          <a:prstGeom prst="rect">
            <a:avLst/>
          </a:prstGeom>
          <a:noFill/>
          <a:ln/>
        </p:spPr>
        <p:txBody>
          <a:bodyPr wrap="square" lIns="0" tIns="0" rIns="0" bIns="0" rtlCol="0" anchor="t">
            <a:normAutofit/>
          </a:bodyPr>
          <a:lstStyle/>
          <a:p>
            <a:pPr algn="l" marL="177292" indent="-177292">
              <a:lnSpc>
                <a:spcPts val="2160"/>
              </a:lnSpc>
              <a:buSzPct val="100000"/>
              <a:buChar char="•"/>
            </a:pPr>
            <a:r>
              <a:rPr lang="en-US" sz="1600" dirty="0">
                <a:solidFill>
                  <a:srgbClr val="14262B"/>
                </a:solidFill>
                <a:latin typeface="Georgia" pitchFamily="18" charset="0"/>
                <a:ea typeface="Georgia" pitchFamily="18" charset="-122"/>
                <a:cs typeface="Georgia" pitchFamily="18" charset="-120"/>
              </a:rPr>
              <a:t>Comparing long sequences manually is difficult</a:t>
            </a:r>
            <a:endParaRPr lang="en-US" sz="1600" dirty="0"/>
          </a:p>
          <a:p>
            <a:pPr algn="l" marL="177292" indent="-177292">
              <a:lnSpc>
                <a:spcPts val="2160"/>
              </a:lnSpc>
              <a:buSzPct val="100000"/>
              <a:buChar char="•"/>
            </a:pPr>
            <a:r>
              <a:rPr lang="en-US" sz="1600" dirty="0">
                <a:solidFill>
                  <a:srgbClr val="14262B"/>
                </a:solidFill>
                <a:latin typeface="Georgia" pitchFamily="18" charset="0"/>
                <a:ea typeface="Georgia" pitchFamily="18" charset="-122"/>
                <a:cs typeface="Georgia" pitchFamily="18" charset="-120"/>
              </a:rPr>
              <a:t>Sequences contain matches, mismatches and gaps</a:t>
            </a:r>
            <a:endParaRPr lang="en-US" sz="1600" dirty="0"/>
          </a:p>
          <a:p>
            <a:pPr algn="l" marL="177292" indent="-177292">
              <a:lnSpc>
                <a:spcPts val="2160"/>
              </a:lnSpc>
              <a:buSzPct val="100000"/>
              <a:buChar char="•"/>
            </a:pPr>
            <a:r>
              <a:rPr lang="en-US" sz="1600" dirty="0">
                <a:solidFill>
                  <a:srgbClr val="14262B"/>
                </a:solidFill>
                <a:latin typeface="Georgia" pitchFamily="18" charset="0"/>
                <a:ea typeface="Georgia" pitchFamily="18" charset="-122"/>
                <a:cs typeface="Georgia" pitchFamily="18" charset="-120"/>
              </a:rPr>
              <a:t>A systematic method is needed to find the optimal alignment</a:t>
            </a:r>
            <a:endParaRPr lang="en-US" sz="1600" dirty="0"/>
          </a:p>
        </p:txBody>
      </p:sp>
      <p:sp>
        <p:nvSpPr>
          <p:cNvPr id="9" name="Shape 7"/>
          <p:cNvSpPr/>
          <p:nvPr/>
        </p:nvSpPr>
        <p:spPr>
          <a:xfrm>
            <a:off x="6200775" y="2007195"/>
            <a:ext cx="5175250" cy="2178778"/>
          </a:xfrm>
          <a:prstGeom prst="roundRect">
            <a:avLst>
              <a:gd name="adj" fmla="val 4517"/>
            </a:avLst>
          </a:prstGeom>
          <a:solidFill>
            <a:srgbClr val="FBF9F4"/>
          </a:solidFill>
          <a:ln w="6350">
            <a:solidFill>
              <a:srgbClr val="D9D4C7"/>
            </a:solidFill>
            <a:prstDash val="solid"/>
          </a:ln>
        </p:spPr>
      </p:sp>
      <p:sp>
        <p:nvSpPr>
          <p:cNvPr id="10" name="Text 8"/>
          <p:cNvSpPr/>
          <p:nvPr/>
        </p:nvSpPr>
        <p:spPr>
          <a:xfrm>
            <a:off x="6430433" y="2236854"/>
            <a:ext cx="485741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7C7B"/>
                </a:solidFill>
                <a:latin typeface="Georgia" pitchFamily="18" charset="0"/>
                <a:ea typeface="Georgia" pitchFamily="18" charset="-122"/>
                <a:cs typeface="Georgia" pitchFamily="18" charset="-120"/>
              </a:rPr>
              <a:t>Objectives</a:t>
            </a:r>
            <a:endParaRPr lang="en-US" sz="1700" dirty="0"/>
          </a:p>
        </p:txBody>
      </p:sp>
      <p:sp>
        <p:nvSpPr>
          <p:cNvPr id="11" name="Text 9"/>
          <p:cNvSpPr/>
          <p:nvPr/>
        </p:nvSpPr>
        <p:spPr>
          <a:xfrm>
            <a:off x="6469041" y="2584782"/>
            <a:ext cx="4812326" cy="1396934"/>
          </a:xfrm>
          <a:prstGeom prst="rect">
            <a:avLst/>
          </a:prstGeom>
          <a:noFill/>
          <a:ln/>
        </p:spPr>
        <p:txBody>
          <a:bodyPr wrap="square" lIns="0" tIns="0" rIns="0" bIns="0" rtlCol="0" anchor="t">
            <a:normAutofit/>
          </a:bodyPr>
          <a:lstStyle/>
          <a:p>
            <a:pPr algn="l" marL="177292" indent="-177292">
              <a:lnSpc>
                <a:spcPts val="2160"/>
              </a:lnSpc>
              <a:buSzPct val="100000"/>
              <a:buChar char="•"/>
            </a:pPr>
            <a:r>
              <a:rPr lang="en-US" sz="1600" dirty="0">
                <a:solidFill>
                  <a:srgbClr val="14262B"/>
                </a:solidFill>
                <a:latin typeface="Georgia" pitchFamily="18" charset="0"/>
                <a:ea typeface="Georgia" pitchFamily="18" charset="-122"/>
                <a:cs typeface="Georgia" pitchFamily="18" charset="-120"/>
              </a:rPr>
              <a:t>Calculate an alignment score from predefined scoring rules</a:t>
            </a:r>
            <a:endParaRPr lang="en-US" sz="1600" dirty="0"/>
          </a:p>
          <a:p>
            <a:pPr algn="l" marL="177292" indent="-177292">
              <a:lnSpc>
                <a:spcPts val="2160"/>
              </a:lnSpc>
              <a:buSzPct val="100000"/>
              <a:buChar char="•"/>
            </a:pPr>
            <a:r>
              <a:rPr lang="en-US" sz="1600" dirty="0">
                <a:solidFill>
                  <a:srgbClr val="14262B"/>
                </a:solidFill>
                <a:latin typeface="Georgia" pitchFamily="18" charset="0"/>
                <a:ea typeface="Georgia" pitchFamily="18" charset="-122"/>
                <a:cs typeface="Georgia" pitchFamily="18" charset="-120"/>
              </a:rPr>
              <a:t>Handle matches, mismatches and gap penalties correctly</a:t>
            </a:r>
            <a:endParaRPr lang="en-US" sz="1600" dirty="0"/>
          </a:p>
          <a:p>
            <a:pPr algn="l" marL="177292" indent="-177292">
              <a:lnSpc>
                <a:spcPts val="2160"/>
              </a:lnSpc>
              <a:buSzPct val="100000"/>
              <a:buChar char="•"/>
            </a:pPr>
            <a:r>
              <a:rPr lang="en-US" sz="1600" dirty="0">
                <a:solidFill>
                  <a:srgbClr val="14262B"/>
                </a:solidFill>
                <a:latin typeface="Georgia" pitchFamily="18" charset="0"/>
                <a:ea typeface="Georgia" pitchFamily="18" charset="-122"/>
                <a:cs typeface="Georgia" pitchFamily="18" charset="-120"/>
              </a:rPr>
              <a:t>Display the final aligned sequences clearly</a:t>
            </a:r>
            <a:endParaRPr lang="en-US" sz="1600" dirty="0"/>
          </a:p>
        </p:txBody>
      </p:sp>
      <p:sp>
        <p:nvSpPr>
          <p:cNvPr id="12" name="Text 10"/>
          <p:cNvSpPr/>
          <p:nvPr/>
        </p:nvSpPr>
        <p:spPr>
          <a:xfrm>
            <a:off x="812800" y="6238280"/>
            <a:ext cx="4077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DSA-3 · Needleman–Wunsch Sequence Alignment</a:t>
            </a:r>
            <a:endParaRPr lang="en-US" sz="1200" dirty="0"/>
          </a:p>
        </p:txBody>
      </p:sp>
      <p:sp>
        <p:nvSpPr>
          <p:cNvPr id="13" name="Text 11"/>
          <p:cNvSpPr/>
          <p:nvPr/>
        </p:nvSpPr>
        <p:spPr>
          <a:xfrm>
            <a:off x="11061898" y="6238280"/>
            <a:ext cx="3807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4 / 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E7C7B"/>
          </a:solidFill>
          <a:ln/>
        </p:spPr>
      </p:sp>
      <p:sp>
        <p:nvSpPr>
          <p:cNvPr id="3" name="Text 1"/>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04 · METHOD</a:t>
            </a:r>
            <a:endParaRPr lang="en-US" sz="1300" dirty="0"/>
          </a:p>
        </p:txBody>
      </p:sp>
      <p:sp>
        <p:nvSpPr>
          <p:cNvPr id="4" name="Text 2"/>
          <p:cNvSpPr/>
          <p:nvPr>
            <p:ph type="title"/>
          </p:nvPr>
        </p:nvSpPr>
        <p:spPr>
          <a:xfrm>
            <a:off x="812800" y="1120115"/>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62B"/>
                </a:solidFill>
                <a:latin typeface="Georgia" pitchFamily="18" charset="0"/>
                <a:ea typeface="Georgia" pitchFamily="18" charset="-122"/>
                <a:cs typeface="Georgia" pitchFamily="18" charset="-120"/>
              </a:rPr>
              <a:t>Algorithm Flow</a:t>
            </a:r>
            <a:endParaRPr lang="en-US" sz="3600" dirty="0"/>
          </a:p>
        </p:txBody>
      </p:sp>
      <p:sp>
        <p:nvSpPr>
          <p:cNvPr id="5" name="Shape 3"/>
          <p:cNvSpPr/>
          <p:nvPr/>
        </p:nvSpPr>
        <p:spPr>
          <a:xfrm>
            <a:off x="812800" y="1699220"/>
            <a:ext cx="762000" cy="50800"/>
          </a:xfrm>
          <a:prstGeom prst="roundRect">
            <a:avLst>
              <a:gd name="adj" fmla="val 50000"/>
            </a:avLst>
          </a:prstGeom>
          <a:solidFill>
            <a:srgbClr val="F2A65A"/>
          </a:solidFill>
          <a:ln/>
        </p:spPr>
      </p:sp>
      <p:sp>
        <p:nvSpPr>
          <p:cNvPr id="6" name="Shape 4"/>
          <p:cNvSpPr/>
          <p:nvPr/>
        </p:nvSpPr>
        <p:spPr>
          <a:xfrm>
            <a:off x="815975" y="2007195"/>
            <a:ext cx="2520950" cy="1437217"/>
          </a:xfrm>
          <a:prstGeom prst="roundRect">
            <a:avLst>
              <a:gd name="adj" fmla="val 6848"/>
            </a:avLst>
          </a:prstGeom>
          <a:solidFill>
            <a:srgbClr val="FBF9F4"/>
          </a:solidFill>
          <a:ln w="6350">
            <a:solidFill>
              <a:srgbClr val="D9D4C7"/>
            </a:solidFill>
            <a:prstDash val="solid"/>
          </a:ln>
        </p:spPr>
      </p:sp>
      <p:sp>
        <p:nvSpPr>
          <p:cNvPr id="7" name="Text 5"/>
          <p:cNvSpPr/>
          <p:nvPr/>
        </p:nvSpPr>
        <p:spPr>
          <a:xfrm>
            <a:off x="1020233" y="2211456"/>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240"/>
              </a:lnSpc>
              <a:buNone/>
            </a:pPr>
            <a:r>
              <a:rPr lang="en-US" sz="1600" b="1" dirty="0">
                <a:solidFill>
                  <a:srgbClr val="FBF9F4"/>
                </a:solidFill>
                <a:latin typeface="Georgia" pitchFamily="18" charset="0"/>
                <a:ea typeface="Georgia" pitchFamily="18" charset="-122"/>
                <a:cs typeface="Georgia" pitchFamily="18" charset="-120"/>
              </a:rPr>
              <a:t>1</a:t>
            </a:r>
            <a:endParaRPr lang="en-US" sz="1600" dirty="0"/>
          </a:p>
        </p:txBody>
      </p:sp>
      <p:sp>
        <p:nvSpPr>
          <p:cNvPr id="8" name="Text 6"/>
          <p:cNvSpPr/>
          <p:nvPr/>
        </p:nvSpPr>
        <p:spPr>
          <a:xfrm>
            <a:off x="1020233" y="2744856"/>
            <a:ext cx="217580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Georgia" pitchFamily="18" charset="0"/>
                <a:ea typeface="Georgia" pitchFamily="18" charset="-122"/>
                <a:cs typeface="Georgia" pitchFamily="18" charset="-120"/>
              </a:rPr>
              <a:t>Enter both sequences</a:t>
            </a:r>
            <a:endParaRPr lang="en-US" sz="1500" dirty="0"/>
          </a:p>
        </p:txBody>
      </p:sp>
      <p:sp>
        <p:nvSpPr>
          <p:cNvPr id="9" name="Shape 7"/>
          <p:cNvSpPr/>
          <p:nvPr/>
        </p:nvSpPr>
        <p:spPr>
          <a:xfrm>
            <a:off x="3495675" y="2007195"/>
            <a:ext cx="2520950" cy="1437217"/>
          </a:xfrm>
          <a:prstGeom prst="roundRect">
            <a:avLst>
              <a:gd name="adj" fmla="val 6848"/>
            </a:avLst>
          </a:prstGeom>
          <a:solidFill>
            <a:srgbClr val="FBF9F4"/>
          </a:solidFill>
          <a:ln w="6350">
            <a:solidFill>
              <a:srgbClr val="D9D4C7"/>
            </a:solidFill>
            <a:prstDash val="solid"/>
          </a:ln>
        </p:spPr>
      </p:sp>
      <p:sp>
        <p:nvSpPr>
          <p:cNvPr id="10" name="Text 8"/>
          <p:cNvSpPr/>
          <p:nvPr/>
        </p:nvSpPr>
        <p:spPr>
          <a:xfrm>
            <a:off x="3699933" y="2211456"/>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240"/>
              </a:lnSpc>
              <a:buNone/>
            </a:pPr>
            <a:r>
              <a:rPr lang="en-US" sz="1600" b="1" dirty="0">
                <a:solidFill>
                  <a:srgbClr val="FBF9F4"/>
                </a:solidFill>
                <a:latin typeface="Georgia" pitchFamily="18" charset="0"/>
                <a:ea typeface="Georgia" pitchFamily="18" charset="-122"/>
                <a:cs typeface="Georgia" pitchFamily="18" charset="-120"/>
              </a:rPr>
              <a:t>2</a:t>
            </a:r>
            <a:endParaRPr lang="en-US" sz="1600" dirty="0"/>
          </a:p>
        </p:txBody>
      </p:sp>
      <p:sp>
        <p:nvSpPr>
          <p:cNvPr id="11" name="Text 9"/>
          <p:cNvSpPr/>
          <p:nvPr/>
        </p:nvSpPr>
        <p:spPr>
          <a:xfrm>
            <a:off x="3699933" y="2744856"/>
            <a:ext cx="217580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Georgia" pitchFamily="18" charset="0"/>
                <a:ea typeface="Georgia" pitchFamily="18" charset="-122"/>
                <a:cs typeface="Georgia" pitchFamily="18" charset="-120"/>
              </a:rPr>
              <a:t>Set match, mismatch and gap scores</a:t>
            </a:r>
            <a:endParaRPr lang="en-US" sz="1500" dirty="0"/>
          </a:p>
        </p:txBody>
      </p:sp>
      <p:sp>
        <p:nvSpPr>
          <p:cNvPr id="12" name="Shape 10"/>
          <p:cNvSpPr/>
          <p:nvPr/>
        </p:nvSpPr>
        <p:spPr>
          <a:xfrm>
            <a:off x="6175375" y="2007195"/>
            <a:ext cx="2520950" cy="1437217"/>
          </a:xfrm>
          <a:prstGeom prst="roundRect">
            <a:avLst>
              <a:gd name="adj" fmla="val 6848"/>
            </a:avLst>
          </a:prstGeom>
          <a:solidFill>
            <a:srgbClr val="FBF9F4"/>
          </a:solidFill>
          <a:ln w="6350">
            <a:solidFill>
              <a:srgbClr val="D9D4C7"/>
            </a:solidFill>
            <a:prstDash val="solid"/>
          </a:ln>
        </p:spPr>
      </p:sp>
      <p:sp>
        <p:nvSpPr>
          <p:cNvPr id="13" name="Text 11"/>
          <p:cNvSpPr/>
          <p:nvPr/>
        </p:nvSpPr>
        <p:spPr>
          <a:xfrm>
            <a:off x="6379633" y="2211456"/>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240"/>
              </a:lnSpc>
              <a:buNone/>
            </a:pPr>
            <a:r>
              <a:rPr lang="en-US" sz="1600" b="1" dirty="0">
                <a:solidFill>
                  <a:srgbClr val="FBF9F4"/>
                </a:solidFill>
                <a:latin typeface="Georgia" pitchFamily="18" charset="0"/>
                <a:ea typeface="Georgia" pitchFamily="18" charset="-122"/>
                <a:cs typeface="Georgia" pitchFamily="18" charset="-120"/>
              </a:rPr>
              <a:t>3</a:t>
            </a:r>
            <a:endParaRPr lang="en-US" sz="1600" dirty="0"/>
          </a:p>
        </p:txBody>
      </p:sp>
      <p:sp>
        <p:nvSpPr>
          <p:cNvPr id="14" name="Text 12"/>
          <p:cNvSpPr/>
          <p:nvPr/>
        </p:nvSpPr>
        <p:spPr>
          <a:xfrm>
            <a:off x="6379633" y="2744856"/>
            <a:ext cx="217580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Georgia" pitchFamily="18" charset="0"/>
                <a:ea typeface="Georgia" pitchFamily="18" charset="-122"/>
                <a:cs typeface="Georgia" pitchFamily="18" charset="-120"/>
              </a:rPr>
              <a:t>Initialize the DP matrix</a:t>
            </a:r>
            <a:endParaRPr lang="en-US" sz="1500" dirty="0"/>
          </a:p>
        </p:txBody>
      </p:sp>
      <p:sp>
        <p:nvSpPr>
          <p:cNvPr id="15" name="Shape 13"/>
          <p:cNvSpPr/>
          <p:nvPr/>
        </p:nvSpPr>
        <p:spPr>
          <a:xfrm>
            <a:off x="8855075" y="2007195"/>
            <a:ext cx="2520950" cy="1437217"/>
          </a:xfrm>
          <a:prstGeom prst="roundRect">
            <a:avLst>
              <a:gd name="adj" fmla="val 6848"/>
            </a:avLst>
          </a:prstGeom>
          <a:solidFill>
            <a:srgbClr val="FBF9F4"/>
          </a:solidFill>
          <a:ln w="6350">
            <a:solidFill>
              <a:srgbClr val="D9D4C7"/>
            </a:solidFill>
            <a:prstDash val="solid"/>
          </a:ln>
        </p:spPr>
      </p:sp>
      <p:sp>
        <p:nvSpPr>
          <p:cNvPr id="16" name="Text 14"/>
          <p:cNvSpPr/>
          <p:nvPr/>
        </p:nvSpPr>
        <p:spPr>
          <a:xfrm>
            <a:off x="9059334" y="2211456"/>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240"/>
              </a:lnSpc>
              <a:buNone/>
            </a:pPr>
            <a:r>
              <a:rPr lang="en-US" sz="1600" b="1" dirty="0">
                <a:solidFill>
                  <a:srgbClr val="FBF9F4"/>
                </a:solidFill>
                <a:latin typeface="Georgia" pitchFamily="18" charset="0"/>
                <a:ea typeface="Georgia" pitchFamily="18" charset="-122"/>
                <a:cs typeface="Georgia" pitchFamily="18" charset="-120"/>
              </a:rPr>
              <a:t>4</a:t>
            </a:r>
            <a:endParaRPr lang="en-US" sz="1600" dirty="0"/>
          </a:p>
        </p:txBody>
      </p:sp>
      <p:sp>
        <p:nvSpPr>
          <p:cNvPr id="17" name="Text 15"/>
          <p:cNvSpPr/>
          <p:nvPr/>
        </p:nvSpPr>
        <p:spPr>
          <a:xfrm>
            <a:off x="9059334" y="2744856"/>
            <a:ext cx="217580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Georgia" pitchFamily="18" charset="0"/>
                <a:ea typeface="Georgia" pitchFamily="18" charset="-122"/>
                <a:cs typeface="Georgia" pitchFamily="18" charset="-120"/>
              </a:rPr>
              <a:t>Fill the matrix</a:t>
            </a:r>
            <a:endParaRPr lang="en-US" sz="1500" dirty="0"/>
          </a:p>
        </p:txBody>
      </p:sp>
      <p:sp>
        <p:nvSpPr>
          <p:cNvPr id="18" name="Shape 16"/>
          <p:cNvSpPr/>
          <p:nvPr/>
        </p:nvSpPr>
        <p:spPr>
          <a:xfrm>
            <a:off x="815975" y="3603163"/>
            <a:ext cx="2520950" cy="1437217"/>
          </a:xfrm>
          <a:prstGeom prst="roundRect">
            <a:avLst>
              <a:gd name="adj" fmla="val 6848"/>
            </a:avLst>
          </a:prstGeom>
          <a:solidFill>
            <a:srgbClr val="FBF9F4"/>
          </a:solidFill>
          <a:ln w="6350">
            <a:solidFill>
              <a:srgbClr val="D9D4C7"/>
            </a:solidFill>
            <a:prstDash val="solid"/>
          </a:ln>
        </p:spPr>
      </p:sp>
      <p:sp>
        <p:nvSpPr>
          <p:cNvPr id="19" name="Text 17"/>
          <p:cNvSpPr/>
          <p:nvPr/>
        </p:nvSpPr>
        <p:spPr>
          <a:xfrm>
            <a:off x="1020233" y="3807420"/>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240"/>
              </a:lnSpc>
              <a:buNone/>
            </a:pPr>
            <a:r>
              <a:rPr lang="en-US" sz="1600" b="1" dirty="0">
                <a:solidFill>
                  <a:srgbClr val="FBF9F4"/>
                </a:solidFill>
                <a:latin typeface="Georgia" pitchFamily="18" charset="0"/>
                <a:ea typeface="Georgia" pitchFamily="18" charset="-122"/>
                <a:cs typeface="Georgia" pitchFamily="18" charset="-120"/>
              </a:rPr>
              <a:t>5</a:t>
            </a:r>
            <a:endParaRPr lang="en-US" sz="1600" dirty="0"/>
          </a:p>
        </p:txBody>
      </p:sp>
      <p:sp>
        <p:nvSpPr>
          <p:cNvPr id="20" name="Text 18"/>
          <p:cNvSpPr/>
          <p:nvPr/>
        </p:nvSpPr>
        <p:spPr>
          <a:xfrm>
            <a:off x="1020233" y="4340820"/>
            <a:ext cx="217580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Georgia" pitchFamily="18" charset="0"/>
                <a:ea typeface="Georgia" pitchFamily="18" charset="-122"/>
                <a:cs typeface="Georgia" pitchFamily="18" charset="-120"/>
              </a:rPr>
              <a:t>Traceback from bottom-right cell</a:t>
            </a:r>
            <a:endParaRPr lang="en-US" sz="1500" dirty="0"/>
          </a:p>
        </p:txBody>
      </p:sp>
      <p:sp>
        <p:nvSpPr>
          <p:cNvPr id="21" name="Shape 19"/>
          <p:cNvSpPr/>
          <p:nvPr/>
        </p:nvSpPr>
        <p:spPr>
          <a:xfrm>
            <a:off x="3495675" y="3603163"/>
            <a:ext cx="2520950" cy="1437217"/>
          </a:xfrm>
          <a:prstGeom prst="roundRect">
            <a:avLst>
              <a:gd name="adj" fmla="val 6848"/>
            </a:avLst>
          </a:prstGeom>
          <a:solidFill>
            <a:srgbClr val="FBF9F4"/>
          </a:solidFill>
          <a:ln w="6350">
            <a:solidFill>
              <a:srgbClr val="D9D4C7"/>
            </a:solidFill>
            <a:prstDash val="solid"/>
          </a:ln>
        </p:spPr>
      </p:sp>
      <p:sp>
        <p:nvSpPr>
          <p:cNvPr id="22" name="Text 20"/>
          <p:cNvSpPr/>
          <p:nvPr/>
        </p:nvSpPr>
        <p:spPr>
          <a:xfrm>
            <a:off x="3699933" y="3807420"/>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240"/>
              </a:lnSpc>
              <a:buNone/>
            </a:pPr>
            <a:r>
              <a:rPr lang="en-US" sz="1600" b="1" dirty="0">
                <a:solidFill>
                  <a:srgbClr val="FBF9F4"/>
                </a:solidFill>
                <a:latin typeface="Georgia" pitchFamily="18" charset="0"/>
                <a:ea typeface="Georgia" pitchFamily="18" charset="-122"/>
                <a:cs typeface="Georgia" pitchFamily="18" charset="-120"/>
              </a:rPr>
              <a:t>6</a:t>
            </a:r>
            <a:endParaRPr lang="en-US" sz="1600" dirty="0"/>
          </a:p>
        </p:txBody>
      </p:sp>
      <p:sp>
        <p:nvSpPr>
          <p:cNvPr id="23" name="Text 21"/>
          <p:cNvSpPr/>
          <p:nvPr/>
        </p:nvSpPr>
        <p:spPr>
          <a:xfrm>
            <a:off x="3699933" y="4340820"/>
            <a:ext cx="217580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Georgia" pitchFamily="18" charset="0"/>
                <a:ea typeface="Georgia" pitchFamily="18" charset="-122"/>
                <a:cs typeface="Georgia" pitchFamily="18" charset="-120"/>
              </a:rPr>
              <a:t>Generate the optimal alignment</a:t>
            </a:r>
            <a:endParaRPr lang="en-US" sz="1500" dirty="0"/>
          </a:p>
        </p:txBody>
      </p:sp>
      <p:sp>
        <p:nvSpPr>
          <p:cNvPr id="24" name="Shape 22"/>
          <p:cNvSpPr/>
          <p:nvPr/>
        </p:nvSpPr>
        <p:spPr>
          <a:xfrm>
            <a:off x="6175375" y="3603163"/>
            <a:ext cx="2520950" cy="1437217"/>
          </a:xfrm>
          <a:prstGeom prst="roundRect">
            <a:avLst>
              <a:gd name="adj" fmla="val 6848"/>
            </a:avLst>
          </a:prstGeom>
          <a:solidFill>
            <a:srgbClr val="FBF9F4"/>
          </a:solidFill>
          <a:ln w="6350">
            <a:solidFill>
              <a:srgbClr val="D9D4C7"/>
            </a:solidFill>
            <a:prstDash val="solid"/>
          </a:ln>
        </p:spPr>
      </p:sp>
      <p:sp>
        <p:nvSpPr>
          <p:cNvPr id="25" name="Text 23"/>
          <p:cNvSpPr/>
          <p:nvPr/>
        </p:nvSpPr>
        <p:spPr>
          <a:xfrm>
            <a:off x="6379633" y="3807420"/>
            <a:ext cx="406400" cy="406400"/>
          </a:xfrm>
          <a:prstGeom prst="roundRect">
            <a:avLst>
              <a:gd name="adj" fmla="val 50000"/>
            </a:avLst>
          </a:prstGeom>
          <a:solidFill>
            <a:srgbClr val="0E7C7B"/>
          </a:solidFill>
          <a:ln/>
        </p:spPr>
        <p:txBody>
          <a:bodyPr wrap="square" lIns="0" tIns="0" rIns="0" bIns="0" rtlCol="0" anchor="ctr">
            <a:normAutofit/>
          </a:bodyPr>
          <a:lstStyle/>
          <a:p>
            <a:pPr algn="ctr" indent="0" marL="0">
              <a:lnSpc>
                <a:spcPts val="2240"/>
              </a:lnSpc>
              <a:buNone/>
            </a:pPr>
            <a:r>
              <a:rPr lang="en-US" sz="1600" b="1" dirty="0">
                <a:solidFill>
                  <a:srgbClr val="FBF9F4"/>
                </a:solidFill>
                <a:latin typeface="Georgia" pitchFamily="18" charset="0"/>
                <a:ea typeface="Georgia" pitchFamily="18" charset="-122"/>
                <a:cs typeface="Georgia" pitchFamily="18" charset="-120"/>
              </a:rPr>
              <a:t>7</a:t>
            </a:r>
            <a:endParaRPr lang="en-US" sz="1600" dirty="0"/>
          </a:p>
        </p:txBody>
      </p:sp>
      <p:sp>
        <p:nvSpPr>
          <p:cNvPr id="26" name="Text 24"/>
          <p:cNvSpPr/>
          <p:nvPr/>
        </p:nvSpPr>
        <p:spPr>
          <a:xfrm>
            <a:off x="6379633" y="4340820"/>
            <a:ext cx="217580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Georgia" pitchFamily="18" charset="0"/>
                <a:ea typeface="Georgia" pitchFamily="18" charset="-122"/>
                <a:cs typeface="Georgia" pitchFamily="18" charset="-120"/>
              </a:rPr>
              <a:t>Calculate the alignment score</a:t>
            </a:r>
            <a:endParaRPr lang="en-US" sz="1500" dirty="0"/>
          </a:p>
        </p:txBody>
      </p:sp>
      <p:sp>
        <p:nvSpPr>
          <p:cNvPr id="27" name="Shape 25"/>
          <p:cNvSpPr/>
          <p:nvPr/>
        </p:nvSpPr>
        <p:spPr>
          <a:xfrm>
            <a:off x="8855075" y="3603163"/>
            <a:ext cx="2520950" cy="1437217"/>
          </a:xfrm>
          <a:prstGeom prst="roundRect">
            <a:avLst>
              <a:gd name="adj" fmla="val 6848"/>
            </a:avLst>
          </a:prstGeom>
          <a:solidFill>
            <a:srgbClr val="10262B"/>
          </a:solidFill>
          <a:ln w="6350">
            <a:solidFill>
              <a:srgbClr val="D9D4C7"/>
            </a:solidFill>
            <a:prstDash val="solid"/>
          </a:ln>
        </p:spPr>
      </p:sp>
      <p:sp>
        <p:nvSpPr>
          <p:cNvPr id="28" name="Text 26"/>
          <p:cNvSpPr/>
          <p:nvPr/>
        </p:nvSpPr>
        <p:spPr>
          <a:xfrm>
            <a:off x="9059334" y="3807420"/>
            <a:ext cx="406400" cy="406400"/>
          </a:xfrm>
          <a:prstGeom prst="roundRect">
            <a:avLst>
              <a:gd name="adj" fmla="val 50000"/>
            </a:avLst>
          </a:prstGeom>
          <a:solidFill>
            <a:srgbClr val="F2A65A"/>
          </a:solidFill>
          <a:ln/>
        </p:spPr>
        <p:txBody>
          <a:bodyPr wrap="square" lIns="0" tIns="0" rIns="0" bIns="0" rtlCol="0" anchor="ctr">
            <a:normAutofit/>
          </a:bodyPr>
          <a:lstStyle/>
          <a:p>
            <a:pPr algn="ctr" indent="0" marL="0">
              <a:lnSpc>
                <a:spcPts val="2240"/>
              </a:lnSpc>
              <a:buNone/>
            </a:pPr>
            <a:r>
              <a:rPr lang="en-US" sz="1600" b="1" dirty="0">
                <a:solidFill>
                  <a:srgbClr val="10262B"/>
                </a:solidFill>
                <a:latin typeface="Georgia" pitchFamily="18" charset="0"/>
                <a:ea typeface="Georgia" pitchFamily="18" charset="-122"/>
                <a:cs typeface="Georgia" pitchFamily="18" charset="-120"/>
              </a:rPr>
              <a:t>8</a:t>
            </a:r>
            <a:endParaRPr lang="en-US" sz="1600" dirty="0"/>
          </a:p>
        </p:txBody>
      </p:sp>
      <p:sp>
        <p:nvSpPr>
          <p:cNvPr id="29" name="Text 27"/>
          <p:cNvSpPr/>
          <p:nvPr/>
        </p:nvSpPr>
        <p:spPr>
          <a:xfrm>
            <a:off x="9059334" y="4340820"/>
            <a:ext cx="217580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DE4"/>
                </a:solidFill>
                <a:latin typeface="Georgia" pitchFamily="18" charset="0"/>
                <a:ea typeface="Georgia" pitchFamily="18" charset="-122"/>
                <a:cs typeface="Georgia" pitchFamily="18" charset="-120"/>
              </a:rPr>
              <a:t>Display aligned sequences and score</a:t>
            </a:r>
            <a:endParaRPr lang="en-US" sz="1500" dirty="0"/>
          </a:p>
        </p:txBody>
      </p:sp>
      <p:sp>
        <p:nvSpPr>
          <p:cNvPr id="30" name="Text 28"/>
          <p:cNvSpPr/>
          <p:nvPr/>
        </p:nvSpPr>
        <p:spPr>
          <a:xfrm>
            <a:off x="812800" y="6238280"/>
            <a:ext cx="4077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DSA-3 · Needleman–Wunsch Sequence Alignment</a:t>
            </a:r>
            <a:endParaRPr lang="en-US" sz="1200" dirty="0"/>
          </a:p>
        </p:txBody>
      </p:sp>
      <p:sp>
        <p:nvSpPr>
          <p:cNvPr id="31" name="Text 29"/>
          <p:cNvSpPr/>
          <p:nvPr/>
        </p:nvSpPr>
        <p:spPr>
          <a:xfrm>
            <a:off x="11067455" y="6238280"/>
            <a:ext cx="374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5 /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E7C7B"/>
          </a:solidFill>
          <a:ln/>
        </p:spPr>
      </p:sp>
      <p:sp>
        <p:nvSpPr>
          <p:cNvPr id="3" name="Text 1"/>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05 · RESULTS</a:t>
            </a:r>
            <a:endParaRPr lang="en-US" sz="1300" dirty="0"/>
          </a:p>
        </p:txBody>
      </p:sp>
      <p:sp>
        <p:nvSpPr>
          <p:cNvPr id="4" name="Text 2"/>
          <p:cNvSpPr/>
          <p:nvPr>
            <p:ph type="title"/>
          </p:nvPr>
        </p:nvSpPr>
        <p:spPr>
          <a:xfrm>
            <a:off x="812800" y="1120115"/>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62B"/>
                </a:solidFill>
                <a:latin typeface="Georgia" pitchFamily="18" charset="0"/>
                <a:ea typeface="Georgia" pitchFamily="18" charset="-122"/>
                <a:cs typeface="Georgia" pitchFamily="18" charset="-120"/>
              </a:rPr>
              <a:t>Results</a:t>
            </a:r>
            <a:endParaRPr lang="en-US" sz="3600" dirty="0"/>
          </a:p>
        </p:txBody>
      </p:sp>
      <p:sp>
        <p:nvSpPr>
          <p:cNvPr id="5" name="Shape 3"/>
          <p:cNvSpPr/>
          <p:nvPr/>
        </p:nvSpPr>
        <p:spPr>
          <a:xfrm>
            <a:off x="812800" y="1699220"/>
            <a:ext cx="762000" cy="50800"/>
          </a:xfrm>
          <a:prstGeom prst="roundRect">
            <a:avLst>
              <a:gd name="adj" fmla="val 50000"/>
            </a:avLst>
          </a:prstGeom>
          <a:solidFill>
            <a:srgbClr val="F2A65A"/>
          </a:solidFill>
          <a:ln/>
        </p:spPr>
      </p:sp>
      <p:sp>
        <p:nvSpPr>
          <p:cNvPr id="6" name="Shape 4"/>
          <p:cNvSpPr/>
          <p:nvPr/>
        </p:nvSpPr>
        <p:spPr>
          <a:xfrm>
            <a:off x="815975" y="2007195"/>
            <a:ext cx="6211557" cy="560917"/>
          </a:xfrm>
          <a:prstGeom prst="roundRect">
            <a:avLst>
              <a:gd name="adj" fmla="val 17547"/>
            </a:avLst>
          </a:prstGeom>
          <a:solidFill>
            <a:srgbClr val="FBF9F4"/>
          </a:solidFill>
          <a:ln w="6350">
            <a:solidFill>
              <a:srgbClr val="D9D4C7"/>
            </a:solidFill>
            <a:prstDash val="solid"/>
          </a:ln>
        </p:spPr>
      </p:sp>
      <p:sp>
        <p:nvSpPr>
          <p:cNvPr id="7" name="Text 5"/>
          <p:cNvSpPr/>
          <p:nvPr/>
        </p:nvSpPr>
        <p:spPr>
          <a:xfrm>
            <a:off x="994833" y="213525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0E7C7B"/>
          </a:solidFill>
          <a:ln/>
        </p:spPr>
        <p:txBody>
          <a:bodyPr wrap="square" lIns="0" tIns="0" rIns="0" bIns="0" rtlCol="0" anchor="ctr">
            <a:normAutofit/>
          </a:bodyPr>
          <a:lstStyle/>
          <a:p>
            <a:pPr algn="ctr" indent="0" marL="0">
              <a:lnSpc>
                <a:spcPts val="1960"/>
              </a:lnSpc>
              <a:buNone/>
            </a:pPr>
            <a:r>
              <a:rPr lang="en-US" sz="1400" b="1" dirty="0">
                <a:solidFill>
                  <a:srgbClr val="FBF9F4"/>
                </a:solidFill>
                <a:latin typeface="Georgia" pitchFamily="18" charset="0"/>
                <a:ea typeface="Georgia" pitchFamily="18" charset="-122"/>
                <a:cs typeface="Georgia" pitchFamily="18" charset="-120"/>
              </a:rPr>
              <a:t>✓</a:t>
            </a:r>
            <a:endParaRPr lang="en-US" sz="1400" dirty="0"/>
          </a:p>
        </p:txBody>
      </p:sp>
      <p:sp>
        <p:nvSpPr>
          <p:cNvPr id="8" name="Text 6"/>
          <p:cNvSpPr/>
          <p:nvPr/>
        </p:nvSpPr>
        <p:spPr>
          <a:xfrm>
            <a:off x="1426633" y="2154306"/>
            <a:ext cx="270708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62B"/>
                </a:solidFill>
                <a:latin typeface="Georgia" pitchFamily="18" charset="0"/>
                <a:ea typeface="Georgia" pitchFamily="18" charset="-122"/>
                <a:cs typeface="Georgia" pitchFamily="18" charset="-120"/>
              </a:rPr>
              <a:t>Optimal aligned sequences</a:t>
            </a:r>
            <a:endParaRPr lang="en-US" sz="1500" dirty="0"/>
          </a:p>
        </p:txBody>
      </p:sp>
      <p:sp>
        <p:nvSpPr>
          <p:cNvPr id="9" name="Shape 7"/>
          <p:cNvSpPr/>
          <p:nvPr/>
        </p:nvSpPr>
        <p:spPr>
          <a:xfrm>
            <a:off x="815975" y="2676063"/>
            <a:ext cx="6211557" cy="560917"/>
          </a:xfrm>
          <a:prstGeom prst="roundRect">
            <a:avLst>
              <a:gd name="adj" fmla="val 17547"/>
            </a:avLst>
          </a:prstGeom>
          <a:solidFill>
            <a:srgbClr val="FBF9F4"/>
          </a:solidFill>
          <a:ln w="6350">
            <a:solidFill>
              <a:srgbClr val="D9D4C7"/>
            </a:solidFill>
            <a:prstDash val="solid"/>
          </a:ln>
        </p:spPr>
      </p:sp>
      <p:sp>
        <p:nvSpPr>
          <p:cNvPr id="10" name="Text 8"/>
          <p:cNvSpPr/>
          <p:nvPr/>
        </p:nvSpPr>
        <p:spPr>
          <a:xfrm>
            <a:off x="994833" y="2804120"/>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0E7C7B"/>
          </a:solidFill>
          <a:ln/>
        </p:spPr>
        <p:txBody>
          <a:bodyPr wrap="square" lIns="0" tIns="0" rIns="0" bIns="0" rtlCol="0" anchor="ctr">
            <a:normAutofit/>
          </a:bodyPr>
          <a:lstStyle/>
          <a:p>
            <a:pPr algn="ctr" indent="0" marL="0">
              <a:lnSpc>
                <a:spcPts val="1960"/>
              </a:lnSpc>
              <a:buNone/>
            </a:pPr>
            <a:r>
              <a:rPr lang="en-US" sz="1400" b="1" dirty="0">
                <a:solidFill>
                  <a:srgbClr val="FBF9F4"/>
                </a:solidFill>
                <a:latin typeface="Georgia" pitchFamily="18" charset="0"/>
                <a:ea typeface="Georgia" pitchFamily="18" charset="-122"/>
                <a:cs typeface="Georgia" pitchFamily="18" charset="-120"/>
              </a:rPr>
              <a:t>✓</a:t>
            </a:r>
            <a:endParaRPr lang="en-US" sz="1400" dirty="0"/>
          </a:p>
        </p:txBody>
      </p:sp>
      <p:sp>
        <p:nvSpPr>
          <p:cNvPr id="11" name="Text 9"/>
          <p:cNvSpPr/>
          <p:nvPr/>
        </p:nvSpPr>
        <p:spPr>
          <a:xfrm>
            <a:off x="1426633" y="2823170"/>
            <a:ext cx="317039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62B"/>
                </a:solidFill>
                <a:latin typeface="Georgia" pitchFamily="18" charset="0"/>
                <a:ea typeface="Georgia" pitchFamily="18" charset="-122"/>
                <a:cs typeface="Georgia" pitchFamily="18" charset="-120"/>
              </a:rPr>
              <a:t>Corresponding alignment score</a:t>
            </a:r>
            <a:endParaRPr lang="en-US" sz="1500" dirty="0"/>
          </a:p>
        </p:txBody>
      </p:sp>
      <p:sp>
        <p:nvSpPr>
          <p:cNvPr id="12" name="Shape 10"/>
          <p:cNvSpPr/>
          <p:nvPr/>
        </p:nvSpPr>
        <p:spPr>
          <a:xfrm>
            <a:off x="815975" y="3344931"/>
            <a:ext cx="6211557" cy="560917"/>
          </a:xfrm>
          <a:prstGeom prst="roundRect">
            <a:avLst>
              <a:gd name="adj" fmla="val 17547"/>
            </a:avLst>
          </a:prstGeom>
          <a:solidFill>
            <a:srgbClr val="FBF9F4"/>
          </a:solidFill>
          <a:ln w="6350">
            <a:solidFill>
              <a:srgbClr val="D9D4C7"/>
            </a:solidFill>
            <a:prstDash val="solid"/>
          </a:ln>
        </p:spPr>
      </p:sp>
      <p:sp>
        <p:nvSpPr>
          <p:cNvPr id="13" name="Text 11"/>
          <p:cNvSpPr/>
          <p:nvPr/>
        </p:nvSpPr>
        <p:spPr>
          <a:xfrm>
            <a:off x="994833" y="3472988"/>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0E7C7B"/>
          </a:solidFill>
          <a:ln/>
        </p:spPr>
        <p:txBody>
          <a:bodyPr wrap="square" lIns="0" tIns="0" rIns="0" bIns="0" rtlCol="0" anchor="ctr">
            <a:normAutofit/>
          </a:bodyPr>
          <a:lstStyle/>
          <a:p>
            <a:pPr algn="ctr" indent="0" marL="0">
              <a:lnSpc>
                <a:spcPts val="1960"/>
              </a:lnSpc>
              <a:buNone/>
            </a:pPr>
            <a:r>
              <a:rPr lang="en-US" sz="1400" b="1" dirty="0">
                <a:solidFill>
                  <a:srgbClr val="FBF9F4"/>
                </a:solidFill>
                <a:latin typeface="Georgia" pitchFamily="18" charset="0"/>
                <a:ea typeface="Georgia" pitchFamily="18" charset="-122"/>
                <a:cs typeface="Georgia" pitchFamily="18" charset="-120"/>
              </a:rPr>
              <a:t>✓</a:t>
            </a:r>
            <a:endParaRPr lang="en-US" sz="1400" dirty="0"/>
          </a:p>
        </p:txBody>
      </p:sp>
      <p:sp>
        <p:nvSpPr>
          <p:cNvPr id="14" name="Text 12"/>
          <p:cNvSpPr/>
          <p:nvPr/>
        </p:nvSpPr>
        <p:spPr>
          <a:xfrm>
            <a:off x="1426633" y="3492038"/>
            <a:ext cx="49480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62B"/>
                </a:solidFill>
                <a:latin typeface="Georgia" pitchFamily="18" charset="0"/>
                <a:ea typeface="Georgia" pitchFamily="18" charset="-122"/>
                <a:cs typeface="Georgia" pitchFamily="18" charset="-120"/>
              </a:rPr>
              <a:t>Matches, mismatches and gaps handled correctly</a:t>
            </a:r>
            <a:endParaRPr lang="en-US" sz="1500" dirty="0"/>
          </a:p>
        </p:txBody>
      </p:sp>
      <p:sp>
        <p:nvSpPr>
          <p:cNvPr id="15" name="Shape 13"/>
          <p:cNvSpPr/>
          <p:nvPr/>
        </p:nvSpPr>
        <p:spPr>
          <a:xfrm>
            <a:off x="7233907" y="2004020"/>
            <a:ext cx="4145293" cy="1130234"/>
          </a:xfrm>
          <a:prstGeom prst="roundRect">
            <a:avLst>
              <a:gd name="adj" fmla="val 8989"/>
            </a:avLst>
          </a:prstGeom>
          <a:solidFill>
            <a:srgbClr val="10262B"/>
          </a:solidFill>
          <a:ln/>
        </p:spPr>
      </p:sp>
      <p:sp>
        <p:nvSpPr>
          <p:cNvPr id="16" name="Text 14"/>
          <p:cNvSpPr/>
          <p:nvPr/>
        </p:nvSpPr>
        <p:spPr>
          <a:xfrm>
            <a:off x="7437107" y="2156420"/>
            <a:ext cx="385106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4B8"/>
                </a:solidFill>
                <a:latin typeface="Georgia" pitchFamily="18" charset="0"/>
                <a:ea typeface="Georgia" pitchFamily="18" charset="-122"/>
                <a:cs typeface="Georgia" pitchFamily="18" charset="-120"/>
              </a:rPr>
              <a:t>Time complexity</a:t>
            </a:r>
            <a:endParaRPr lang="en-US" sz="1300" dirty="0"/>
          </a:p>
        </p:txBody>
      </p:sp>
      <p:sp>
        <p:nvSpPr>
          <p:cNvPr id="17" name="Text 15"/>
          <p:cNvSpPr/>
          <p:nvPr/>
        </p:nvSpPr>
        <p:spPr>
          <a:xfrm>
            <a:off x="7437107" y="2412935"/>
            <a:ext cx="385106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A65A"/>
                </a:solidFill>
                <a:latin typeface="Georgia" pitchFamily="18" charset="0"/>
                <a:ea typeface="Georgia" pitchFamily="18" charset="-122"/>
                <a:cs typeface="Georgia" pitchFamily="18" charset="-120"/>
              </a:rPr>
              <a:t>O(m × n)</a:t>
            </a:r>
            <a:endParaRPr lang="en-US" sz="3200" dirty="0"/>
          </a:p>
        </p:txBody>
      </p:sp>
      <p:sp>
        <p:nvSpPr>
          <p:cNvPr id="18" name="Shape 16"/>
          <p:cNvSpPr/>
          <p:nvPr/>
        </p:nvSpPr>
        <p:spPr>
          <a:xfrm>
            <a:off x="7233907" y="3235855"/>
            <a:ext cx="4145293" cy="1130234"/>
          </a:xfrm>
          <a:prstGeom prst="roundRect">
            <a:avLst>
              <a:gd name="adj" fmla="val 8989"/>
            </a:avLst>
          </a:prstGeom>
          <a:solidFill>
            <a:srgbClr val="10262B"/>
          </a:solidFill>
          <a:ln/>
        </p:spPr>
      </p:sp>
      <p:sp>
        <p:nvSpPr>
          <p:cNvPr id="19" name="Text 17"/>
          <p:cNvSpPr/>
          <p:nvPr/>
        </p:nvSpPr>
        <p:spPr>
          <a:xfrm>
            <a:off x="7437107" y="3388255"/>
            <a:ext cx="385106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4B8"/>
                </a:solidFill>
                <a:latin typeface="Georgia" pitchFamily="18" charset="0"/>
                <a:ea typeface="Georgia" pitchFamily="18" charset="-122"/>
                <a:cs typeface="Georgia" pitchFamily="18" charset="-120"/>
              </a:rPr>
              <a:t>Space complexity</a:t>
            </a:r>
            <a:endParaRPr lang="en-US" sz="1300" dirty="0"/>
          </a:p>
        </p:txBody>
      </p:sp>
      <p:sp>
        <p:nvSpPr>
          <p:cNvPr id="20" name="Text 18"/>
          <p:cNvSpPr/>
          <p:nvPr/>
        </p:nvSpPr>
        <p:spPr>
          <a:xfrm>
            <a:off x="7437107" y="3644770"/>
            <a:ext cx="385106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A65A"/>
                </a:solidFill>
                <a:latin typeface="Georgia" pitchFamily="18" charset="0"/>
                <a:ea typeface="Georgia" pitchFamily="18" charset="-122"/>
                <a:cs typeface="Georgia" pitchFamily="18" charset="-120"/>
              </a:rPr>
              <a:t>O(m × n)</a:t>
            </a:r>
            <a:endParaRPr lang="en-US" sz="3200" dirty="0"/>
          </a:p>
        </p:txBody>
      </p:sp>
      <p:sp>
        <p:nvSpPr>
          <p:cNvPr id="21" name="Shape 19"/>
          <p:cNvSpPr/>
          <p:nvPr/>
        </p:nvSpPr>
        <p:spPr>
          <a:xfrm>
            <a:off x="815975" y="4623265"/>
            <a:ext cx="10560050" cy="1183217"/>
          </a:xfrm>
          <a:prstGeom prst="roundRect">
            <a:avLst>
              <a:gd name="adj" fmla="val 8318"/>
            </a:avLst>
          </a:prstGeom>
          <a:solidFill>
            <a:srgbClr val="FBF9F4"/>
          </a:solidFill>
          <a:ln w="6350">
            <a:solidFill>
              <a:srgbClr val="D9D4C7"/>
            </a:solidFill>
            <a:prstDash val="solid"/>
          </a:ln>
        </p:spPr>
      </p:sp>
      <p:sp>
        <p:nvSpPr>
          <p:cNvPr id="22" name="Text 20"/>
          <p:cNvSpPr/>
          <p:nvPr/>
        </p:nvSpPr>
        <p:spPr>
          <a:xfrm>
            <a:off x="1045633" y="4866946"/>
            <a:ext cx="167706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Example</a:t>
            </a:r>
            <a:endParaRPr lang="en-US" sz="1300" dirty="0"/>
          </a:p>
        </p:txBody>
      </p:sp>
      <p:sp>
        <p:nvSpPr>
          <p:cNvPr id="23" name="Text 21"/>
          <p:cNvSpPr/>
          <p:nvPr/>
        </p:nvSpPr>
        <p:spPr>
          <a:xfrm>
            <a:off x="1045633" y="5136158"/>
            <a:ext cx="16770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GATTACA vs GCATGCT</a:t>
            </a:r>
            <a:endParaRPr lang="en-US" sz="1200" dirty="0"/>
          </a:p>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score -1</a:t>
            </a:r>
            <a:endParaRPr lang="en-US" sz="1200" dirty="0"/>
          </a:p>
        </p:txBody>
      </p:sp>
      <p:sp>
        <p:nvSpPr>
          <p:cNvPr id="24" name="Text 22"/>
          <p:cNvSpPr/>
          <p:nvPr/>
        </p:nvSpPr>
        <p:spPr>
          <a:xfrm>
            <a:off x="2925895" y="4776722"/>
            <a:ext cx="406400" cy="406400"/>
          </a:xfrm>
          <a:prstGeom prst="roundRect">
            <a:avLst>
              <a:gd name="adj" fmla="val 15625"/>
            </a:avLst>
          </a:prstGeom>
          <a:solidFill>
            <a:srgbClr val="0E7C7B"/>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G</a:t>
            </a:r>
            <a:endParaRPr lang="en-US" sz="1800" dirty="0"/>
          </a:p>
        </p:txBody>
      </p:sp>
      <p:sp>
        <p:nvSpPr>
          <p:cNvPr id="25" name="Text 23"/>
          <p:cNvSpPr/>
          <p:nvPr/>
        </p:nvSpPr>
        <p:spPr>
          <a:xfrm>
            <a:off x="3395795" y="4776722"/>
            <a:ext cx="406400" cy="406400"/>
          </a:xfrm>
          <a:prstGeom prst="roundRect">
            <a:avLst>
              <a:gd name="adj" fmla="val 15625"/>
            </a:avLst>
          </a:prstGeom>
          <a:solidFill>
            <a:srgbClr val="C8553D"/>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A</a:t>
            </a:r>
            <a:endParaRPr lang="en-US" sz="1800" dirty="0"/>
          </a:p>
        </p:txBody>
      </p:sp>
      <p:sp>
        <p:nvSpPr>
          <p:cNvPr id="26" name="Text 24"/>
          <p:cNvSpPr/>
          <p:nvPr/>
        </p:nvSpPr>
        <p:spPr>
          <a:xfrm>
            <a:off x="3865695" y="4776722"/>
            <a:ext cx="406400" cy="406400"/>
          </a:xfrm>
          <a:prstGeom prst="roundRect">
            <a:avLst>
              <a:gd name="adj" fmla="val 15625"/>
            </a:avLst>
          </a:prstGeom>
          <a:solidFill>
            <a:srgbClr val="C8553D"/>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T</a:t>
            </a:r>
            <a:endParaRPr lang="en-US" sz="1800" dirty="0"/>
          </a:p>
        </p:txBody>
      </p:sp>
      <p:sp>
        <p:nvSpPr>
          <p:cNvPr id="27" name="Text 25"/>
          <p:cNvSpPr/>
          <p:nvPr/>
        </p:nvSpPr>
        <p:spPr>
          <a:xfrm>
            <a:off x="4335595" y="4776722"/>
            <a:ext cx="406400" cy="406400"/>
          </a:xfrm>
          <a:prstGeom prst="roundRect">
            <a:avLst>
              <a:gd name="adj" fmla="val 15625"/>
            </a:avLst>
          </a:prstGeom>
          <a:solidFill>
            <a:srgbClr val="0E7C7B"/>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T</a:t>
            </a:r>
            <a:endParaRPr lang="en-US" sz="1800" dirty="0"/>
          </a:p>
        </p:txBody>
      </p:sp>
      <p:sp>
        <p:nvSpPr>
          <p:cNvPr id="28" name="Text 26"/>
          <p:cNvSpPr/>
          <p:nvPr/>
        </p:nvSpPr>
        <p:spPr>
          <a:xfrm>
            <a:off x="4805495" y="4776722"/>
            <a:ext cx="406400" cy="406400"/>
          </a:xfrm>
          <a:prstGeom prst="roundRect">
            <a:avLst>
              <a:gd name="adj" fmla="val 15625"/>
            </a:avLst>
          </a:prstGeom>
          <a:solidFill>
            <a:srgbClr val="C8553D"/>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A</a:t>
            </a:r>
            <a:endParaRPr lang="en-US" sz="1800" dirty="0"/>
          </a:p>
        </p:txBody>
      </p:sp>
      <p:sp>
        <p:nvSpPr>
          <p:cNvPr id="29" name="Text 27"/>
          <p:cNvSpPr/>
          <p:nvPr/>
        </p:nvSpPr>
        <p:spPr>
          <a:xfrm>
            <a:off x="5275395" y="4776722"/>
            <a:ext cx="406400" cy="406400"/>
          </a:xfrm>
          <a:prstGeom prst="roundRect">
            <a:avLst>
              <a:gd name="adj" fmla="val 15625"/>
            </a:avLst>
          </a:prstGeom>
          <a:solidFill>
            <a:srgbClr val="0E7C7B"/>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C</a:t>
            </a:r>
            <a:endParaRPr lang="en-US" sz="1800" dirty="0"/>
          </a:p>
        </p:txBody>
      </p:sp>
      <p:sp>
        <p:nvSpPr>
          <p:cNvPr id="30" name="Text 28"/>
          <p:cNvSpPr/>
          <p:nvPr/>
        </p:nvSpPr>
        <p:spPr>
          <a:xfrm>
            <a:off x="5745295" y="4776722"/>
            <a:ext cx="406400" cy="406400"/>
          </a:xfrm>
          <a:prstGeom prst="roundRect">
            <a:avLst>
              <a:gd name="adj" fmla="val 15625"/>
            </a:avLst>
          </a:prstGeom>
          <a:solidFill>
            <a:srgbClr val="C8553D"/>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A</a:t>
            </a:r>
            <a:endParaRPr lang="en-US" sz="1800" dirty="0"/>
          </a:p>
        </p:txBody>
      </p:sp>
      <p:sp>
        <p:nvSpPr>
          <p:cNvPr id="31" name="Text 29"/>
          <p:cNvSpPr/>
          <p:nvPr/>
        </p:nvSpPr>
        <p:spPr>
          <a:xfrm>
            <a:off x="2925895" y="5246622"/>
            <a:ext cx="406400" cy="406400"/>
          </a:xfrm>
          <a:prstGeom prst="roundRect">
            <a:avLst>
              <a:gd name="adj" fmla="val 15625"/>
            </a:avLst>
          </a:prstGeom>
          <a:solidFill>
            <a:srgbClr val="0E7C7B"/>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G</a:t>
            </a:r>
            <a:endParaRPr lang="en-US" sz="1800" dirty="0"/>
          </a:p>
        </p:txBody>
      </p:sp>
      <p:sp>
        <p:nvSpPr>
          <p:cNvPr id="32" name="Text 30"/>
          <p:cNvSpPr/>
          <p:nvPr/>
        </p:nvSpPr>
        <p:spPr>
          <a:xfrm>
            <a:off x="3395795" y="5246622"/>
            <a:ext cx="406400" cy="406400"/>
          </a:xfrm>
          <a:prstGeom prst="roundRect">
            <a:avLst>
              <a:gd name="adj" fmla="val 15625"/>
            </a:avLst>
          </a:prstGeom>
          <a:solidFill>
            <a:srgbClr val="C8553D"/>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C</a:t>
            </a:r>
            <a:endParaRPr lang="en-US" sz="1800" dirty="0"/>
          </a:p>
        </p:txBody>
      </p:sp>
      <p:sp>
        <p:nvSpPr>
          <p:cNvPr id="33" name="Text 31"/>
          <p:cNvSpPr/>
          <p:nvPr/>
        </p:nvSpPr>
        <p:spPr>
          <a:xfrm>
            <a:off x="3865695" y="5246622"/>
            <a:ext cx="406400" cy="406400"/>
          </a:xfrm>
          <a:prstGeom prst="roundRect">
            <a:avLst>
              <a:gd name="adj" fmla="val 15625"/>
            </a:avLst>
          </a:prstGeom>
          <a:solidFill>
            <a:srgbClr val="C8553D"/>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A</a:t>
            </a:r>
            <a:endParaRPr lang="en-US" sz="1800" dirty="0"/>
          </a:p>
        </p:txBody>
      </p:sp>
      <p:sp>
        <p:nvSpPr>
          <p:cNvPr id="34" name="Text 32"/>
          <p:cNvSpPr/>
          <p:nvPr/>
        </p:nvSpPr>
        <p:spPr>
          <a:xfrm>
            <a:off x="4335595" y="5246622"/>
            <a:ext cx="406400" cy="406400"/>
          </a:xfrm>
          <a:prstGeom prst="roundRect">
            <a:avLst>
              <a:gd name="adj" fmla="val 15625"/>
            </a:avLst>
          </a:prstGeom>
          <a:solidFill>
            <a:srgbClr val="0E7C7B"/>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T</a:t>
            </a:r>
            <a:endParaRPr lang="en-US" sz="1800" dirty="0"/>
          </a:p>
        </p:txBody>
      </p:sp>
      <p:sp>
        <p:nvSpPr>
          <p:cNvPr id="35" name="Text 33"/>
          <p:cNvSpPr/>
          <p:nvPr/>
        </p:nvSpPr>
        <p:spPr>
          <a:xfrm>
            <a:off x="4805495" y="5246622"/>
            <a:ext cx="406400" cy="406400"/>
          </a:xfrm>
          <a:prstGeom prst="roundRect">
            <a:avLst>
              <a:gd name="adj" fmla="val 15625"/>
            </a:avLst>
          </a:prstGeom>
          <a:solidFill>
            <a:srgbClr val="C8553D"/>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G</a:t>
            </a:r>
            <a:endParaRPr lang="en-US" sz="1800" dirty="0"/>
          </a:p>
        </p:txBody>
      </p:sp>
      <p:sp>
        <p:nvSpPr>
          <p:cNvPr id="36" name="Text 34"/>
          <p:cNvSpPr/>
          <p:nvPr/>
        </p:nvSpPr>
        <p:spPr>
          <a:xfrm>
            <a:off x="5275395" y="5246622"/>
            <a:ext cx="406400" cy="406400"/>
          </a:xfrm>
          <a:prstGeom prst="roundRect">
            <a:avLst>
              <a:gd name="adj" fmla="val 15625"/>
            </a:avLst>
          </a:prstGeom>
          <a:solidFill>
            <a:srgbClr val="0E7C7B"/>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C</a:t>
            </a:r>
            <a:endParaRPr lang="en-US" sz="1800" dirty="0"/>
          </a:p>
        </p:txBody>
      </p:sp>
      <p:sp>
        <p:nvSpPr>
          <p:cNvPr id="37" name="Text 35"/>
          <p:cNvSpPr/>
          <p:nvPr/>
        </p:nvSpPr>
        <p:spPr>
          <a:xfrm>
            <a:off x="5745295" y="5246622"/>
            <a:ext cx="406400" cy="406400"/>
          </a:xfrm>
          <a:prstGeom prst="roundRect">
            <a:avLst>
              <a:gd name="adj" fmla="val 15625"/>
            </a:avLst>
          </a:prstGeom>
          <a:solidFill>
            <a:srgbClr val="C8553D"/>
          </a:solidFill>
          <a:ln/>
        </p:spPr>
        <p:txBody>
          <a:bodyPr wrap="square" lIns="0" tIns="0" rIns="0" bIns="0" rtlCol="0" anchor="ctr">
            <a:normAutofit/>
          </a:bodyPr>
          <a:lstStyle/>
          <a:p>
            <a:pPr algn="ctr" indent="0" marL="0">
              <a:lnSpc>
                <a:spcPts val="2520"/>
              </a:lnSpc>
              <a:buNone/>
            </a:pPr>
            <a:r>
              <a:rPr lang="en-US" sz="1800" b="1" dirty="0">
                <a:solidFill>
                  <a:srgbClr val="FBF9F4"/>
                </a:solidFill>
                <a:latin typeface="Georgia" pitchFamily="18" charset="0"/>
                <a:ea typeface="Georgia" pitchFamily="18" charset="-122"/>
                <a:cs typeface="Georgia" pitchFamily="18" charset="-120"/>
              </a:rPr>
              <a:t>T</a:t>
            </a:r>
            <a:endParaRPr lang="en-US" sz="1800" dirty="0"/>
          </a:p>
        </p:txBody>
      </p:sp>
      <p:sp>
        <p:nvSpPr>
          <p:cNvPr id="38" name="Shape 36"/>
          <p:cNvSpPr/>
          <p:nvPr/>
        </p:nvSpPr>
        <p:spPr>
          <a:xfrm>
            <a:off x="6405695" y="4887187"/>
            <a:ext cx="152400" cy="152400"/>
          </a:xfrm>
          <a:prstGeom prst="roundRect">
            <a:avLst>
              <a:gd name="adj" fmla="val 25000"/>
            </a:avLst>
          </a:prstGeom>
          <a:solidFill>
            <a:srgbClr val="0E7C7B"/>
          </a:solidFill>
          <a:ln/>
        </p:spPr>
      </p:sp>
      <p:sp>
        <p:nvSpPr>
          <p:cNvPr id="39" name="Text 37"/>
          <p:cNvSpPr/>
          <p:nvPr/>
        </p:nvSpPr>
        <p:spPr>
          <a:xfrm>
            <a:off x="6621595" y="4856758"/>
            <a:ext cx="514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Match</a:t>
            </a:r>
            <a:endParaRPr lang="en-US" sz="1200" dirty="0"/>
          </a:p>
        </p:txBody>
      </p:sp>
      <p:sp>
        <p:nvSpPr>
          <p:cNvPr id="40" name="Shape 38"/>
          <p:cNvSpPr/>
          <p:nvPr/>
        </p:nvSpPr>
        <p:spPr>
          <a:xfrm>
            <a:off x="6405695" y="5138607"/>
            <a:ext cx="152400" cy="152400"/>
          </a:xfrm>
          <a:prstGeom prst="roundRect">
            <a:avLst>
              <a:gd name="adj" fmla="val 25000"/>
            </a:avLst>
          </a:prstGeom>
          <a:solidFill>
            <a:srgbClr val="C8553D"/>
          </a:solidFill>
          <a:ln/>
        </p:spPr>
      </p:sp>
      <p:sp>
        <p:nvSpPr>
          <p:cNvPr id="41" name="Text 39"/>
          <p:cNvSpPr/>
          <p:nvPr/>
        </p:nvSpPr>
        <p:spPr>
          <a:xfrm>
            <a:off x="6621595" y="5108178"/>
            <a:ext cx="8081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Mismatch</a:t>
            </a:r>
            <a:endParaRPr lang="en-US" sz="1200" dirty="0"/>
          </a:p>
        </p:txBody>
      </p:sp>
      <p:sp>
        <p:nvSpPr>
          <p:cNvPr id="42" name="Shape 40"/>
          <p:cNvSpPr/>
          <p:nvPr/>
        </p:nvSpPr>
        <p:spPr>
          <a:xfrm>
            <a:off x="6405695" y="5390028"/>
            <a:ext cx="152400" cy="152400"/>
          </a:xfrm>
          <a:prstGeom prst="roundRect">
            <a:avLst>
              <a:gd name="adj" fmla="val 25000"/>
            </a:avLst>
          </a:prstGeom>
          <a:solidFill>
            <a:srgbClr val="8A9496"/>
          </a:solidFill>
          <a:ln/>
        </p:spPr>
      </p:sp>
      <p:sp>
        <p:nvSpPr>
          <p:cNvPr id="43" name="Text 41"/>
          <p:cNvSpPr/>
          <p:nvPr/>
        </p:nvSpPr>
        <p:spPr>
          <a:xfrm>
            <a:off x="6621595" y="5359598"/>
            <a:ext cx="3292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Gap</a:t>
            </a:r>
            <a:endParaRPr lang="en-US" sz="1200" dirty="0"/>
          </a:p>
        </p:txBody>
      </p:sp>
      <p:sp>
        <p:nvSpPr>
          <p:cNvPr id="44" name="Text 42"/>
          <p:cNvSpPr/>
          <p:nvPr/>
        </p:nvSpPr>
        <p:spPr>
          <a:xfrm>
            <a:off x="812800" y="6238280"/>
            <a:ext cx="4077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DSA-3 · Needleman–Wunsch Sequence Alignment</a:t>
            </a:r>
            <a:endParaRPr lang="en-US" sz="1200" dirty="0"/>
          </a:p>
        </p:txBody>
      </p:sp>
      <p:sp>
        <p:nvSpPr>
          <p:cNvPr id="45" name="Text 43"/>
          <p:cNvSpPr/>
          <p:nvPr/>
        </p:nvSpPr>
        <p:spPr>
          <a:xfrm>
            <a:off x="110617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6 /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E7C7B"/>
          </a:solidFill>
          <a:ln/>
        </p:spPr>
      </p:sp>
      <p:sp>
        <p:nvSpPr>
          <p:cNvPr id="3" name="Text 1"/>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06 · REQUIREMENTS</a:t>
            </a:r>
            <a:endParaRPr lang="en-US" sz="1300" dirty="0"/>
          </a:p>
        </p:txBody>
      </p:sp>
      <p:sp>
        <p:nvSpPr>
          <p:cNvPr id="4" name="Text 2"/>
          <p:cNvSpPr/>
          <p:nvPr>
            <p:ph type="title"/>
          </p:nvPr>
        </p:nvSpPr>
        <p:spPr>
          <a:xfrm>
            <a:off x="812800" y="1120115"/>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62B"/>
                </a:solidFill>
                <a:latin typeface="Georgia" pitchFamily="18" charset="0"/>
                <a:ea typeface="Georgia" pitchFamily="18" charset="-122"/>
                <a:cs typeface="Georgia" pitchFamily="18" charset="-120"/>
              </a:rPr>
              <a:t>Hardware and Software Requirements</a:t>
            </a:r>
            <a:endParaRPr lang="en-US" sz="3600" dirty="0"/>
          </a:p>
        </p:txBody>
      </p:sp>
      <p:sp>
        <p:nvSpPr>
          <p:cNvPr id="5" name="Shape 3"/>
          <p:cNvSpPr/>
          <p:nvPr/>
        </p:nvSpPr>
        <p:spPr>
          <a:xfrm>
            <a:off x="812800" y="1699220"/>
            <a:ext cx="762000" cy="50800"/>
          </a:xfrm>
          <a:prstGeom prst="roundRect">
            <a:avLst>
              <a:gd name="adj" fmla="val 50000"/>
            </a:avLst>
          </a:prstGeom>
          <a:solidFill>
            <a:srgbClr val="F2A65A"/>
          </a:solidFill>
          <a:ln/>
        </p:spPr>
      </p:sp>
      <p:sp>
        <p:nvSpPr>
          <p:cNvPr id="6" name="Shape 4"/>
          <p:cNvSpPr/>
          <p:nvPr/>
        </p:nvSpPr>
        <p:spPr>
          <a:xfrm>
            <a:off x="815975" y="2007195"/>
            <a:ext cx="5175250" cy="1835944"/>
          </a:xfrm>
          <a:prstGeom prst="roundRect">
            <a:avLst>
              <a:gd name="adj" fmla="val 5361"/>
            </a:avLst>
          </a:prstGeom>
          <a:solidFill>
            <a:srgbClr val="FBF9F4"/>
          </a:solidFill>
          <a:ln w="6350">
            <a:solidFill>
              <a:srgbClr val="D9D4C7"/>
            </a:solidFill>
            <a:prstDash val="solid"/>
          </a:ln>
        </p:spPr>
      </p:sp>
      <p:sp>
        <p:nvSpPr>
          <p:cNvPr id="7" name="Text 5"/>
          <p:cNvSpPr/>
          <p:nvPr/>
        </p:nvSpPr>
        <p:spPr>
          <a:xfrm>
            <a:off x="1045633" y="2236856"/>
            <a:ext cx="485741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7C7B"/>
                </a:solidFill>
                <a:latin typeface="Georgia" pitchFamily="18" charset="0"/>
                <a:ea typeface="Georgia" pitchFamily="18" charset="-122"/>
                <a:cs typeface="Georgia" pitchFamily="18" charset="-120"/>
              </a:rPr>
              <a:t>Hardware</a:t>
            </a:r>
            <a:endParaRPr lang="en-US" sz="1700" dirty="0"/>
          </a:p>
        </p:txBody>
      </p:sp>
      <p:sp>
        <p:nvSpPr>
          <p:cNvPr id="8" name="Text 6"/>
          <p:cNvSpPr/>
          <p:nvPr/>
        </p:nvSpPr>
        <p:spPr>
          <a:xfrm>
            <a:off x="1091353" y="2584782"/>
            <a:ext cx="4805214" cy="1054100"/>
          </a:xfrm>
          <a:prstGeom prst="rect">
            <a:avLst/>
          </a:prstGeom>
          <a:noFill/>
          <a:ln/>
        </p:spPr>
        <p:txBody>
          <a:bodyPr wrap="square" lIns="0" tIns="0" rIns="0" bIns="0" rtlCol="0" anchor="t">
            <a:normAutofit/>
          </a:bodyPr>
          <a:lstStyle/>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Processor: Intel Core i3 or equivalent and above</a:t>
            </a:r>
            <a:endParaRPr lang="en-US" sz="1500" dirty="0"/>
          </a:p>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RAM: minimum 4 GB</a:t>
            </a:r>
            <a:endParaRPr lang="en-US" sz="1500" dirty="0"/>
          </a:p>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Storage: minimum 500 MB free</a:t>
            </a:r>
            <a:endParaRPr lang="en-US" sz="1500" dirty="0"/>
          </a:p>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Keyboard, mouse and standard display</a:t>
            </a:r>
            <a:endParaRPr lang="en-US" sz="1500" dirty="0"/>
          </a:p>
        </p:txBody>
      </p:sp>
      <p:sp>
        <p:nvSpPr>
          <p:cNvPr id="9" name="Shape 7"/>
          <p:cNvSpPr/>
          <p:nvPr/>
        </p:nvSpPr>
        <p:spPr>
          <a:xfrm>
            <a:off x="6200775" y="2007195"/>
            <a:ext cx="5175250" cy="1835944"/>
          </a:xfrm>
          <a:prstGeom prst="roundRect">
            <a:avLst>
              <a:gd name="adj" fmla="val 5361"/>
            </a:avLst>
          </a:prstGeom>
          <a:solidFill>
            <a:srgbClr val="FBF9F4"/>
          </a:solidFill>
          <a:ln w="6350">
            <a:solidFill>
              <a:srgbClr val="D9D4C7"/>
            </a:solidFill>
            <a:prstDash val="solid"/>
          </a:ln>
        </p:spPr>
      </p:sp>
      <p:sp>
        <p:nvSpPr>
          <p:cNvPr id="10" name="Text 8"/>
          <p:cNvSpPr/>
          <p:nvPr/>
        </p:nvSpPr>
        <p:spPr>
          <a:xfrm>
            <a:off x="6430433" y="2236856"/>
            <a:ext cx="485741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7691F"/>
                </a:solidFill>
                <a:latin typeface="Georgia" pitchFamily="18" charset="0"/>
                <a:ea typeface="Georgia" pitchFamily="18" charset="-122"/>
                <a:cs typeface="Georgia" pitchFamily="18" charset="-120"/>
              </a:rPr>
              <a:t>Software</a:t>
            </a:r>
            <a:endParaRPr lang="en-US" sz="1700" dirty="0"/>
          </a:p>
        </p:txBody>
      </p:sp>
      <p:sp>
        <p:nvSpPr>
          <p:cNvPr id="11" name="Text 9"/>
          <p:cNvSpPr/>
          <p:nvPr/>
        </p:nvSpPr>
        <p:spPr>
          <a:xfrm>
            <a:off x="6476153" y="2584782"/>
            <a:ext cx="4805214" cy="1054100"/>
          </a:xfrm>
          <a:prstGeom prst="rect">
            <a:avLst/>
          </a:prstGeom>
          <a:noFill/>
          <a:ln/>
        </p:spPr>
        <p:txBody>
          <a:bodyPr wrap="square" lIns="0" tIns="0" rIns="0" bIns="0" rtlCol="0" anchor="t">
            <a:normAutofit/>
          </a:bodyPr>
          <a:lstStyle/>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OS: Windows, Linux or macOS</a:t>
            </a:r>
            <a:endParaRPr lang="en-US" sz="1500" dirty="0"/>
          </a:p>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Language: Java, JDK 8 or above</a:t>
            </a:r>
            <a:endParaRPr lang="en-US" sz="1500" dirty="0"/>
          </a:p>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IDE: IntelliJ IDEA, Eclipse, VS Code or NetBeans</a:t>
            </a:r>
            <a:endParaRPr lang="en-US" sz="1500" dirty="0"/>
          </a:p>
          <a:p>
            <a:pPr algn="l" marL="170180" indent="-170180">
              <a:lnSpc>
                <a:spcPts val="2025"/>
              </a:lnSpc>
              <a:buSzPct val="100000"/>
              <a:buChar char="•"/>
            </a:pPr>
            <a:r>
              <a:rPr lang="en-US" sz="1500" dirty="0">
                <a:solidFill>
                  <a:srgbClr val="14262B"/>
                </a:solidFill>
                <a:latin typeface="Georgia" pitchFamily="18" charset="0"/>
                <a:ea typeface="Georgia" pitchFamily="18" charset="-122"/>
                <a:cs typeface="Georgia" pitchFamily="18" charset="-120"/>
              </a:rPr>
              <a:t>Standard Java libraries</a:t>
            </a:r>
            <a:endParaRPr lang="en-US" sz="1500" dirty="0"/>
          </a:p>
        </p:txBody>
      </p:sp>
      <p:sp>
        <p:nvSpPr>
          <p:cNvPr id="12" name="Text 10"/>
          <p:cNvSpPr/>
          <p:nvPr/>
        </p:nvSpPr>
        <p:spPr>
          <a:xfrm>
            <a:off x="812800" y="6238280"/>
            <a:ext cx="4077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DSA-3 · Needleman–Wunsch Sequence Alignment</a:t>
            </a:r>
            <a:endParaRPr lang="en-US" sz="1200" dirty="0"/>
          </a:p>
        </p:txBody>
      </p:sp>
      <p:sp>
        <p:nvSpPr>
          <p:cNvPr id="13" name="Text 11"/>
          <p:cNvSpPr/>
          <p:nvPr/>
        </p:nvSpPr>
        <p:spPr>
          <a:xfrm>
            <a:off x="11071423" y="6238280"/>
            <a:ext cx="3693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7 / 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62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A65A"/>
          </a:solidFill>
          <a:ln/>
        </p:spPr>
      </p:sp>
      <p:sp>
        <p:nvSpPr>
          <p:cNvPr id="3" name="Text 1"/>
          <p:cNvSpPr/>
          <p:nvPr/>
        </p:nvSpPr>
        <p:spPr>
          <a:xfrm>
            <a:off x="812800" y="1664959"/>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Georgia" pitchFamily="18" charset="0"/>
                <a:ea typeface="Georgia" pitchFamily="18" charset="-122"/>
                <a:cs typeface="Georgia" pitchFamily="18" charset="-120"/>
              </a:rPr>
              <a:t>07 · CONCLUSION</a:t>
            </a:r>
            <a:endParaRPr lang="en-US" sz="1300" dirty="0"/>
          </a:p>
        </p:txBody>
      </p:sp>
      <p:sp>
        <p:nvSpPr>
          <p:cNvPr id="4" name="Text 2"/>
          <p:cNvSpPr/>
          <p:nvPr>
            <p:ph type="title"/>
          </p:nvPr>
        </p:nvSpPr>
        <p:spPr>
          <a:xfrm>
            <a:off x="812800" y="215007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A65A"/>
                </a:solidFill>
                <a:latin typeface="Georgia" pitchFamily="18" charset="0"/>
                <a:ea typeface="Georgia" pitchFamily="18" charset="-122"/>
                <a:cs typeface="Georgia" pitchFamily="18" charset="-120"/>
              </a:rPr>
              <a:t>Conclusion</a:t>
            </a:r>
            <a:endParaRPr lang="en-US" sz="3600" dirty="0"/>
          </a:p>
        </p:txBody>
      </p:sp>
      <p:sp>
        <p:nvSpPr>
          <p:cNvPr id="5" name="Text 3"/>
          <p:cNvSpPr/>
          <p:nvPr/>
        </p:nvSpPr>
        <p:spPr>
          <a:xfrm>
            <a:off x="812800" y="2906979"/>
            <a:ext cx="98107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1EDE4"/>
                </a:solidFill>
                <a:latin typeface="Georgia" pitchFamily="18" charset="0"/>
                <a:ea typeface="Georgia" pitchFamily="18" charset="-122"/>
                <a:cs typeface="Georgia" pitchFamily="18" charset="-120"/>
              </a:rPr>
              <a:t>Needleman–Wunsch finds the optimal alignment of two biological sequences by breaking the problem into smaller overlapping subproblems.</a:t>
            </a:r>
            <a:endParaRPr lang="en-US" sz="2000" dirty="0"/>
          </a:p>
        </p:txBody>
      </p:sp>
      <p:sp>
        <p:nvSpPr>
          <p:cNvPr id="6" name="Text 4"/>
          <p:cNvSpPr/>
          <p:nvPr/>
        </p:nvSpPr>
        <p:spPr>
          <a:xfrm>
            <a:off x="819150" y="3878529"/>
            <a:ext cx="2381779" cy="482600"/>
          </a:xfrm>
          <a:prstGeom prst="roundRect">
            <a:avLst>
              <a:gd name="adj" fmla="val 50000"/>
            </a:avLst>
          </a:prstGeom>
          <a:solidFill>
            <a:srgbClr val="1C3A40"/>
          </a:solidFill>
          <a:ln w="12700">
            <a:solidFill>
              <a:srgbClr val="F2A65A"/>
            </a:solidFill>
            <a:prstDash val="solid"/>
          </a:ln>
        </p:spPr>
        <p:txBody>
          <a:bodyPr wrap="none" lIns="0" tIns="0" rIns="0" bIns="0" rtlCol="0" anchor="ctr">
            <a:normAutofit/>
          </a:bodyPr>
          <a:lstStyle/>
          <a:p>
            <a:pPr algn="ctr" indent="0" marL="0">
              <a:lnSpc>
                <a:spcPts val="2100"/>
              </a:lnSpc>
              <a:buNone/>
            </a:pPr>
            <a:r>
              <a:rPr lang="en-US" sz="1500" dirty="0">
                <a:solidFill>
                  <a:srgbClr val="F1EDE4"/>
                </a:solidFill>
                <a:latin typeface="Georgia" pitchFamily="18" charset="0"/>
                <a:ea typeface="Georgia" pitchFamily="18" charset="-122"/>
                <a:cs typeface="Georgia" pitchFamily="18" charset="-120"/>
              </a:rPr>
              <a:t>Dynamic programming</a:t>
            </a:r>
            <a:endParaRPr lang="en-US" sz="1500" dirty="0"/>
          </a:p>
        </p:txBody>
      </p:sp>
      <p:sp>
        <p:nvSpPr>
          <p:cNvPr id="7" name="Text 5"/>
          <p:cNvSpPr/>
          <p:nvPr/>
        </p:nvSpPr>
        <p:spPr>
          <a:xfrm>
            <a:off x="3340629" y="3878529"/>
            <a:ext cx="2221839" cy="482600"/>
          </a:xfrm>
          <a:prstGeom prst="roundRect">
            <a:avLst>
              <a:gd name="adj" fmla="val 50000"/>
            </a:avLst>
          </a:prstGeom>
          <a:solidFill>
            <a:srgbClr val="1C3A40"/>
          </a:solidFill>
          <a:ln w="12700">
            <a:solidFill>
              <a:srgbClr val="F2A65A"/>
            </a:solidFill>
            <a:prstDash val="solid"/>
          </a:ln>
        </p:spPr>
        <p:txBody>
          <a:bodyPr wrap="none" lIns="0" tIns="0" rIns="0" bIns="0" rtlCol="0" anchor="ctr">
            <a:normAutofit/>
          </a:bodyPr>
          <a:lstStyle/>
          <a:p>
            <a:pPr algn="ctr" indent="0" marL="0">
              <a:lnSpc>
                <a:spcPts val="2100"/>
              </a:lnSpc>
              <a:buNone/>
            </a:pPr>
            <a:r>
              <a:rPr lang="en-US" sz="1500" dirty="0">
                <a:solidFill>
                  <a:srgbClr val="F1EDE4"/>
                </a:solidFill>
                <a:latin typeface="Georgia" pitchFamily="18" charset="0"/>
                <a:ea typeface="Georgia" pitchFamily="18" charset="-122"/>
                <a:cs typeface="Georgia" pitchFamily="18" charset="-120"/>
              </a:rPr>
              <a:t>Optimal substructure</a:t>
            </a:r>
            <a:endParaRPr lang="en-US" sz="1500" dirty="0"/>
          </a:p>
        </p:txBody>
      </p:sp>
      <p:sp>
        <p:nvSpPr>
          <p:cNvPr id="8" name="Text 6"/>
          <p:cNvSpPr/>
          <p:nvPr/>
        </p:nvSpPr>
        <p:spPr>
          <a:xfrm>
            <a:off x="5702168" y="3878529"/>
            <a:ext cx="2166012" cy="482600"/>
          </a:xfrm>
          <a:prstGeom prst="roundRect">
            <a:avLst>
              <a:gd name="adj" fmla="val 50000"/>
            </a:avLst>
          </a:prstGeom>
          <a:solidFill>
            <a:srgbClr val="1C3A40"/>
          </a:solidFill>
          <a:ln w="12700">
            <a:solidFill>
              <a:srgbClr val="F2A65A"/>
            </a:solidFill>
            <a:prstDash val="solid"/>
          </a:ln>
        </p:spPr>
        <p:txBody>
          <a:bodyPr wrap="none" lIns="0" tIns="0" rIns="0" bIns="0" rtlCol="0" anchor="ctr">
            <a:normAutofit/>
          </a:bodyPr>
          <a:lstStyle/>
          <a:p>
            <a:pPr algn="ctr" indent="0" marL="0">
              <a:lnSpc>
                <a:spcPts val="2100"/>
              </a:lnSpc>
              <a:buNone/>
            </a:pPr>
            <a:r>
              <a:rPr lang="en-US" sz="1500" dirty="0">
                <a:solidFill>
                  <a:srgbClr val="F1EDE4"/>
                </a:solidFill>
                <a:latin typeface="Georgia" pitchFamily="18" charset="0"/>
                <a:ea typeface="Georgia" pitchFamily="18" charset="-122"/>
                <a:cs typeface="Georgia" pitchFamily="18" charset="-120"/>
              </a:rPr>
              <a:t>Recurrence relations</a:t>
            </a:r>
            <a:endParaRPr lang="en-US" sz="1500" dirty="0"/>
          </a:p>
        </p:txBody>
      </p:sp>
      <p:sp>
        <p:nvSpPr>
          <p:cNvPr id="9" name="Text 7"/>
          <p:cNvSpPr/>
          <p:nvPr/>
        </p:nvSpPr>
        <p:spPr>
          <a:xfrm>
            <a:off x="8007879" y="3878529"/>
            <a:ext cx="2107473" cy="482600"/>
          </a:xfrm>
          <a:prstGeom prst="roundRect">
            <a:avLst>
              <a:gd name="adj" fmla="val 50000"/>
            </a:avLst>
          </a:prstGeom>
          <a:solidFill>
            <a:srgbClr val="1C3A40"/>
          </a:solidFill>
          <a:ln w="12700">
            <a:solidFill>
              <a:srgbClr val="F2A65A"/>
            </a:solidFill>
            <a:prstDash val="solid"/>
          </a:ln>
        </p:spPr>
        <p:txBody>
          <a:bodyPr wrap="none" lIns="0" tIns="0" rIns="0" bIns="0" rtlCol="0" anchor="ctr">
            <a:normAutofit/>
          </a:bodyPr>
          <a:lstStyle/>
          <a:p>
            <a:pPr algn="ctr" indent="0" marL="0">
              <a:lnSpc>
                <a:spcPts val="2100"/>
              </a:lnSpc>
              <a:buNone/>
            </a:pPr>
            <a:r>
              <a:rPr lang="en-US" sz="1500" dirty="0">
                <a:solidFill>
                  <a:srgbClr val="F1EDE4"/>
                </a:solidFill>
                <a:latin typeface="Georgia" pitchFamily="18" charset="0"/>
                <a:ea typeface="Georgia" pitchFamily="18" charset="-122"/>
                <a:cs typeface="Georgia" pitchFamily="18" charset="-120"/>
              </a:rPr>
              <a:t>Matrix computation</a:t>
            </a:r>
            <a:endParaRPr lang="en-US" sz="1500" dirty="0"/>
          </a:p>
        </p:txBody>
      </p:sp>
      <p:sp>
        <p:nvSpPr>
          <p:cNvPr id="10" name="Text 8"/>
          <p:cNvSpPr/>
          <p:nvPr/>
        </p:nvSpPr>
        <p:spPr>
          <a:xfrm>
            <a:off x="819150" y="4500829"/>
            <a:ext cx="1521950" cy="482600"/>
          </a:xfrm>
          <a:prstGeom prst="roundRect">
            <a:avLst>
              <a:gd name="adj" fmla="val 50000"/>
            </a:avLst>
          </a:prstGeom>
          <a:solidFill>
            <a:srgbClr val="1C3A40"/>
          </a:solidFill>
          <a:ln w="12700">
            <a:solidFill>
              <a:srgbClr val="F2A65A"/>
            </a:solidFill>
            <a:prstDash val="solid"/>
          </a:ln>
        </p:spPr>
        <p:txBody>
          <a:bodyPr wrap="none" lIns="0" tIns="0" rIns="0" bIns="0" rtlCol="0" anchor="ctr">
            <a:normAutofit/>
          </a:bodyPr>
          <a:lstStyle/>
          <a:p>
            <a:pPr algn="ctr" indent="0" marL="0">
              <a:lnSpc>
                <a:spcPts val="2100"/>
              </a:lnSpc>
              <a:buNone/>
            </a:pPr>
            <a:r>
              <a:rPr lang="en-US" sz="1500" dirty="0">
                <a:solidFill>
                  <a:srgbClr val="F1EDE4"/>
                </a:solidFill>
                <a:latin typeface="Georgia" pitchFamily="18" charset="0"/>
                <a:ea typeface="Georgia" pitchFamily="18" charset="-122"/>
                <a:cs typeface="Georgia" pitchFamily="18" charset="-120"/>
              </a:rPr>
              <a:t>Backtracking</a:t>
            </a:r>
            <a:endParaRPr lang="en-US" sz="1500" dirty="0"/>
          </a:p>
        </p:txBody>
      </p:sp>
      <p:sp>
        <p:nvSpPr>
          <p:cNvPr id="11" name="Text 9"/>
          <p:cNvSpPr/>
          <p:nvPr/>
        </p:nvSpPr>
        <p:spPr>
          <a:xfrm>
            <a:off x="812800" y="6238280"/>
            <a:ext cx="4077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2"/>
                </a:solidFill>
                <a:latin typeface="Georgia" pitchFamily="18" charset="0"/>
                <a:ea typeface="Georgia" pitchFamily="18" charset="-122"/>
                <a:cs typeface="Georgia" pitchFamily="18" charset="-120"/>
              </a:rPr>
              <a:t>DSA-3 · Needleman–Wunsch Sequence Alignment</a:t>
            </a:r>
            <a:endParaRPr lang="en-US" sz="1200" dirty="0"/>
          </a:p>
        </p:txBody>
      </p:sp>
      <p:sp>
        <p:nvSpPr>
          <p:cNvPr id="12" name="Text 10"/>
          <p:cNvSpPr/>
          <p:nvPr/>
        </p:nvSpPr>
        <p:spPr>
          <a:xfrm>
            <a:off x="11057136" y="6238280"/>
            <a:ext cx="3864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2"/>
                </a:solidFill>
                <a:latin typeface="Georgia" pitchFamily="18" charset="0"/>
                <a:ea typeface="Georgia" pitchFamily="18" charset="-122"/>
                <a:cs typeface="Georgia" pitchFamily="18" charset="-120"/>
              </a:rPr>
              <a:t>8 / 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E7C7B"/>
          </a:solidFill>
          <a:ln/>
        </p:spPr>
      </p:sp>
      <p:sp>
        <p:nvSpPr>
          <p:cNvPr id="3" name="Text 1"/>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08 · NEXT STEPS</a:t>
            </a:r>
            <a:endParaRPr lang="en-US" sz="1300" dirty="0"/>
          </a:p>
        </p:txBody>
      </p:sp>
      <p:sp>
        <p:nvSpPr>
          <p:cNvPr id="4" name="Text 2"/>
          <p:cNvSpPr/>
          <p:nvPr>
            <p:ph type="title"/>
          </p:nvPr>
        </p:nvSpPr>
        <p:spPr>
          <a:xfrm>
            <a:off x="812800" y="1120118"/>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62B"/>
                </a:solidFill>
                <a:latin typeface="Georgia" pitchFamily="18" charset="0"/>
                <a:ea typeface="Georgia" pitchFamily="18" charset="-122"/>
                <a:cs typeface="Georgia" pitchFamily="18" charset="-120"/>
              </a:rPr>
              <a:t>Future Scope</a:t>
            </a:r>
            <a:endParaRPr lang="en-US" sz="3600" dirty="0"/>
          </a:p>
        </p:txBody>
      </p:sp>
      <p:sp>
        <p:nvSpPr>
          <p:cNvPr id="5" name="Shape 3"/>
          <p:cNvSpPr/>
          <p:nvPr/>
        </p:nvSpPr>
        <p:spPr>
          <a:xfrm>
            <a:off x="812800" y="1699220"/>
            <a:ext cx="762000" cy="50800"/>
          </a:xfrm>
          <a:prstGeom prst="roundRect">
            <a:avLst>
              <a:gd name="adj" fmla="val 50000"/>
            </a:avLst>
          </a:prstGeom>
          <a:solidFill>
            <a:srgbClr val="F2A65A"/>
          </a:solidFill>
          <a:ln/>
        </p:spPr>
      </p:sp>
      <p:sp>
        <p:nvSpPr>
          <p:cNvPr id="6" name="Shape 4"/>
          <p:cNvSpPr/>
          <p:nvPr/>
        </p:nvSpPr>
        <p:spPr>
          <a:xfrm>
            <a:off x="815975" y="2007195"/>
            <a:ext cx="2520950" cy="1159007"/>
          </a:xfrm>
          <a:prstGeom prst="roundRect">
            <a:avLst>
              <a:gd name="adj" fmla="val 8492"/>
            </a:avLst>
          </a:prstGeom>
          <a:solidFill>
            <a:srgbClr val="FBF9F4"/>
          </a:solidFill>
          <a:ln w="6350">
            <a:solidFill>
              <a:srgbClr val="D9D4C7"/>
            </a:solidFill>
            <a:prstDash val="solid"/>
          </a:ln>
        </p:spPr>
      </p:sp>
      <p:sp>
        <p:nvSpPr>
          <p:cNvPr id="7" name="Text 5"/>
          <p:cNvSpPr/>
          <p:nvPr/>
        </p:nvSpPr>
        <p:spPr>
          <a:xfrm>
            <a:off x="994833" y="2186056"/>
            <a:ext cx="222813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01</a:t>
            </a:r>
            <a:endParaRPr lang="en-US" sz="1300" dirty="0"/>
          </a:p>
        </p:txBody>
      </p:sp>
      <p:sp>
        <p:nvSpPr>
          <p:cNvPr id="8" name="Text 6"/>
          <p:cNvSpPr/>
          <p:nvPr/>
        </p:nvSpPr>
        <p:spPr>
          <a:xfrm>
            <a:off x="994833" y="2480667"/>
            <a:ext cx="22281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62B"/>
                </a:solidFill>
                <a:latin typeface="Georgia" pitchFamily="18" charset="0"/>
                <a:ea typeface="Georgia" pitchFamily="18" charset="-122"/>
                <a:cs typeface="Georgia" pitchFamily="18" charset="-120"/>
              </a:rPr>
              <a:t>Local alignment</a:t>
            </a:r>
            <a:endParaRPr lang="en-US" sz="1500" dirty="0"/>
          </a:p>
        </p:txBody>
      </p:sp>
      <p:sp>
        <p:nvSpPr>
          <p:cNvPr id="9" name="Text 7"/>
          <p:cNvSpPr/>
          <p:nvPr/>
        </p:nvSpPr>
        <p:spPr>
          <a:xfrm>
            <a:off x="994833" y="2772767"/>
            <a:ext cx="2228130" cy="2399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B6E"/>
                </a:solidFill>
                <a:latin typeface="Georgia" pitchFamily="18" charset="0"/>
                <a:ea typeface="Georgia" pitchFamily="18" charset="-122"/>
                <a:cs typeface="Georgia" pitchFamily="18" charset="-120"/>
              </a:rPr>
              <a:t>Smith–Waterman algorithm</a:t>
            </a:r>
            <a:endParaRPr lang="en-US" sz="1300" dirty="0"/>
          </a:p>
        </p:txBody>
      </p:sp>
      <p:sp>
        <p:nvSpPr>
          <p:cNvPr id="10" name="Shape 8"/>
          <p:cNvSpPr/>
          <p:nvPr/>
        </p:nvSpPr>
        <p:spPr>
          <a:xfrm>
            <a:off x="3495675" y="2007195"/>
            <a:ext cx="2520950" cy="1159007"/>
          </a:xfrm>
          <a:prstGeom prst="roundRect">
            <a:avLst>
              <a:gd name="adj" fmla="val 8492"/>
            </a:avLst>
          </a:prstGeom>
          <a:solidFill>
            <a:srgbClr val="FBF9F4"/>
          </a:solidFill>
          <a:ln w="6350">
            <a:solidFill>
              <a:srgbClr val="D9D4C7"/>
            </a:solidFill>
            <a:prstDash val="solid"/>
          </a:ln>
        </p:spPr>
      </p:sp>
      <p:sp>
        <p:nvSpPr>
          <p:cNvPr id="11" name="Text 9"/>
          <p:cNvSpPr/>
          <p:nvPr/>
        </p:nvSpPr>
        <p:spPr>
          <a:xfrm>
            <a:off x="3674533" y="2186056"/>
            <a:ext cx="222813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02</a:t>
            </a:r>
            <a:endParaRPr lang="en-US" sz="1300" dirty="0"/>
          </a:p>
        </p:txBody>
      </p:sp>
      <p:sp>
        <p:nvSpPr>
          <p:cNvPr id="12" name="Text 10"/>
          <p:cNvSpPr/>
          <p:nvPr/>
        </p:nvSpPr>
        <p:spPr>
          <a:xfrm>
            <a:off x="3674533" y="2480667"/>
            <a:ext cx="22281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62B"/>
                </a:solidFill>
                <a:latin typeface="Georgia" pitchFamily="18" charset="0"/>
                <a:ea typeface="Georgia" pitchFamily="18" charset="-122"/>
                <a:cs typeface="Georgia" pitchFamily="18" charset="-120"/>
              </a:rPr>
              <a:t>Affine gap penalties</a:t>
            </a:r>
            <a:endParaRPr lang="en-US" sz="1500" dirty="0"/>
          </a:p>
        </p:txBody>
      </p:sp>
      <p:sp>
        <p:nvSpPr>
          <p:cNvPr id="13" name="Text 11"/>
          <p:cNvSpPr/>
          <p:nvPr/>
        </p:nvSpPr>
        <p:spPr>
          <a:xfrm>
            <a:off x="3674533" y="2772767"/>
            <a:ext cx="2228130" cy="2399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B6E"/>
                </a:solidFill>
                <a:latin typeface="Georgia" pitchFamily="18" charset="0"/>
                <a:ea typeface="Georgia" pitchFamily="18" charset="-122"/>
                <a:cs typeface="Georgia" pitchFamily="18" charset="-120"/>
              </a:rPr>
              <a:t>More realistic alignments</a:t>
            </a:r>
            <a:endParaRPr lang="en-US" sz="1300" dirty="0"/>
          </a:p>
        </p:txBody>
      </p:sp>
      <p:sp>
        <p:nvSpPr>
          <p:cNvPr id="14" name="Shape 12"/>
          <p:cNvSpPr/>
          <p:nvPr/>
        </p:nvSpPr>
        <p:spPr>
          <a:xfrm>
            <a:off x="6175375" y="2007195"/>
            <a:ext cx="2520950" cy="1159007"/>
          </a:xfrm>
          <a:prstGeom prst="roundRect">
            <a:avLst>
              <a:gd name="adj" fmla="val 8492"/>
            </a:avLst>
          </a:prstGeom>
          <a:solidFill>
            <a:srgbClr val="FBF9F4"/>
          </a:solidFill>
          <a:ln w="6350">
            <a:solidFill>
              <a:srgbClr val="D9D4C7"/>
            </a:solidFill>
            <a:prstDash val="solid"/>
          </a:ln>
        </p:spPr>
      </p:sp>
      <p:sp>
        <p:nvSpPr>
          <p:cNvPr id="15" name="Text 13"/>
          <p:cNvSpPr/>
          <p:nvPr/>
        </p:nvSpPr>
        <p:spPr>
          <a:xfrm>
            <a:off x="6354233" y="2186056"/>
            <a:ext cx="222813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03</a:t>
            </a:r>
            <a:endParaRPr lang="en-US" sz="1300" dirty="0"/>
          </a:p>
        </p:txBody>
      </p:sp>
      <p:sp>
        <p:nvSpPr>
          <p:cNvPr id="16" name="Text 14"/>
          <p:cNvSpPr/>
          <p:nvPr/>
        </p:nvSpPr>
        <p:spPr>
          <a:xfrm>
            <a:off x="6354233" y="2480667"/>
            <a:ext cx="22281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62B"/>
                </a:solidFill>
                <a:latin typeface="Georgia" pitchFamily="18" charset="0"/>
                <a:ea typeface="Georgia" pitchFamily="18" charset="-122"/>
                <a:cs typeface="Georgia" pitchFamily="18" charset="-120"/>
              </a:rPr>
              <a:t>Multiple alignment</a:t>
            </a:r>
            <a:endParaRPr lang="en-US" sz="1500" dirty="0"/>
          </a:p>
        </p:txBody>
      </p:sp>
      <p:sp>
        <p:nvSpPr>
          <p:cNvPr id="17" name="Text 15"/>
          <p:cNvSpPr/>
          <p:nvPr/>
        </p:nvSpPr>
        <p:spPr>
          <a:xfrm>
            <a:off x="6354233" y="2772767"/>
            <a:ext cx="2228130" cy="2399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B6E"/>
                </a:solidFill>
                <a:latin typeface="Georgia" pitchFamily="18" charset="0"/>
                <a:ea typeface="Georgia" pitchFamily="18" charset="-122"/>
                <a:cs typeface="Georgia" pitchFamily="18" charset="-120"/>
              </a:rPr>
              <a:t>More than two sequences</a:t>
            </a:r>
            <a:endParaRPr lang="en-US" sz="1300" dirty="0"/>
          </a:p>
        </p:txBody>
      </p:sp>
      <p:sp>
        <p:nvSpPr>
          <p:cNvPr id="18" name="Shape 16"/>
          <p:cNvSpPr/>
          <p:nvPr/>
        </p:nvSpPr>
        <p:spPr>
          <a:xfrm>
            <a:off x="8855075" y="2007195"/>
            <a:ext cx="2520950" cy="1159007"/>
          </a:xfrm>
          <a:prstGeom prst="roundRect">
            <a:avLst>
              <a:gd name="adj" fmla="val 8492"/>
            </a:avLst>
          </a:prstGeom>
          <a:solidFill>
            <a:srgbClr val="FBF9F4"/>
          </a:solidFill>
          <a:ln w="6350">
            <a:solidFill>
              <a:srgbClr val="D9D4C7"/>
            </a:solidFill>
            <a:prstDash val="solid"/>
          </a:ln>
        </p:spPr>
      </p:sp>
      <p:sp>
        <p:nvSpPr>
          <p:cNvPr id="19" name="Text 17"/>
          <p:cNvSpPr/>
          <p:nvPr/>
        </p:nvSpPr>
        <p:spPr>
          <a:xfrm>
            <a:off x="9033934" y="2186056"/>
            <a:ext cx="222813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04</a:t>
            </a:r>
            <a:endParaRPr lang="en-US" sz="1300" dirty="0"/>
          </a:p>
        </p:txBody>
      </p:sp>
      <p:sp>
        <p:nvSpPr>
          <p:cNvPr id="20" name="Text 18"/>
          <p:cNvSpPr/>
          <p:nvPr/>
        </p:nvSpPr>
        <p:spPr>
          <a:xfrm>
            <a:off x="9033934" y="2480667"/>
            <a:ext cx="22281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62B"/>
                </a:solidFill>
                <a:latin typeface="Georgia" pitchFamily="18" charset="0"/>
                <a:ea typeface="Georgia" pitchFamily="18" charset="-122"/>
                <a:cs typeface="Georgia" pitchFamily="18" charset="-120"/>
              </a:rPr>
              <a:t>Protein scoring</a:t>
            </a:r>
            <a:endParaRPr lang="en-US" sz="1500" dirty="0"/>
          </a:p>
        </p:txBody>
      </p:sp>
      <p:sp>
        <p:nvSpPr>
          <p:cNvPr id="21" name="Text 19"/>
          <p:cNvSpPr/>
          <p:nvPr/>
        </p:nvSpPr>
        <p:spPr>
          <a:xfrm>
            <a:off x="9033934" y="2772767"/>
            <a:ext cx="2228130" cy="2399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B6E"/>
                </a:solidFill>
                <a:latin typeface="Georgia" pitchFamily="18" charset="0"/>
                <a:ea typeface="Georgia" pitchFamily="18" charset="-122"/>
                <a:cs typeface="Georgia" pitchFamily="18" charset="-120"/>
              </a:rPr>
              <a:t>BLOSUM and PAM matrices</a:t>
            </a:r>
            <a:endParaRPr lang="en-US" sz="1300" dirty="0"/>
          </a:p>
        </p:txBody>
      </p:sp>
      <p:sp>
        <p:nvSpPr>
          <p:cNvPr id="22" name="Shape 20"/>
          <p:cNvSpPr/>
          <p:nvPr/>
        </p:nvSpPr>
        <p:spPr>
          <a:xfrm>
            <a:off x="815975" y="3324957"/>
            <a:ext cx="2520950" cy="1373584"/>
          </a:xfrm>
          <a:prstGeom prst="roundRect">
            <a:avLst>
              <a:gd name="adj" fmla="val 7166"/>
            </a:avLst>
          </a:prstGeom>
          <a:solidFill>
            <a:srgbClr val="FBF9F4"/>
          </a:solidFill>
          <a:ln w="6350">
            <a:solidFill>
              <a:srgbClr val="D9D4C7"/>
            </a:solidFill>
            <a:prstDash val="solid"/>
          </a:ln>
        </p:spPr>
      </p:sp>
      <p:sp>
        <p:nvSpPr>
          <p:cNvPr id="23" name="Text 21"/>
          <p:cNvSpPr/>
          <p:nvPr/>
        </p:nvSpPr>
        <p:spPr>
          <a:xfrm>
            <a:off x="994833" y="3503811"/>
            <a:ext cx="222813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05</a:t>
            </a:r>
            <a:endParaRPr lang="en-US" sz="1300" dirty="0"/>
          </a:p>
        </p:txBody>
      </p:sp>
      <p:sp>
        <p:nvSpPr>
          <p:cNvPr id="24" name="Text 22"/>
          <p:cNvSpPr/>
          <p:nvPr/>
        </p:nvSpPr>
        <p:spPr>
          <a:xfrm>
            <a:off x="994833" y="3798429"/>
            <a:ext cx="22281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62B"/>
                </a:solidFill>
                <a:latin typeface="Georgia" pitchFamily="18" charset="0"/>
                <a:ea typeface="Georgia" pitchFamily="18" charset="-122"/>
                <a:cs typeface="Georgia" pitchFamily="18" charset="-120"/>
              </a:rPr>
              <a:t>Visualization</a:t>
            </a:r>
            <a:endParaRPr lang="en-US" sz="1500" dirty="0"/>
          </a:p>
        </p:txBody>
      </p:sp>
      <p:sp>
        <p:nvSpPr>
          <p:cNvPr id="25" name="Text 23"/>
          <p:cNvSpPr/>
          <p:nvPr/>
        </p:nvSpPr>
        <p:spPr>
          <a:xfrm>
            <a:off x="994833" y="4090529"/>
            <a:ext cx="2228130" cy="45455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B6E"/>
                </a:solidFill>
                <a:latin typeface="Georgia" pitchFamily="18" charset="0"/>
                <a:ea typeface="Georgia" pitchFamily="18" charset="-122"/>
                <a:cs typeface="Georgia" pitchFamily="18" charset="-120"/>
              </a:rPr>
              <a:t>DP matrix and alignment path</a:t>
            </a:r>
            <a:endParaRPr lang="en-US" sz="1300" dirty="0"/>
          </a:p>
        </p:txBody>
      </p:sp>
      <p:sp>
        <p:nvSpPr>
          <p:cNvPr id="26" name="Shape 24"/>
          <p:cNvSpPr/>
          <p:nvPr/>
        </p:nvSpPr>
        <p:spPr>
          <a:xfrm>
            <a:off x="3495675" y="3324957"/>
            <a:ext cx="2520950" cy="1373584"/>
          </a:xfrm>
          <a:prstGeom prst="roundRect">
            <a:avLst>
              <a:gd name="adj" fmla="val 7166"/>
            </a:avLst>
          </a:prstGeom>
          <a:solidFill>
            <a:srgbClr val="FBF9F4"/>
          </a:solidFill>
          <a:ln w="6350">
            <a:solidFill>
              <a:srgbClr val="D9D4C7"/>
            </a:solidFill>
            <a:prstDash val="solid"/>
          </a:ln>
        </p:spPr>
      </p:sp>
      <p:sp>
        <p:nvSpPr>
          <p:cNvPr id="27" name="Text 25"/>
          <p:cNvSpPr/>
          <p:nvPr/>
        </p:nvSpPr>
        <p:spPr>
          <a:xfrm>
            <a:off x="3674533" y="3503811"/>
            <a:ext cx="222813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06</a:t>
            </a:r>
            <a:endParaRPr lang="en-US" sz="1300" dirty="0"/>
          </a:p>
        </p:txBody>
      </p:sp>
      <p:sp>
        <p:nvSpPr>
          <p:cNvPr id="28" name="Text 26"/>
          <p:cNvSpPr/>
          <p:nvPr/>
        </p:nvSpPr>
        <p:spPr>
          <a:xfrm>
            <a:off x="3674533" y="3798429"/>
            <a:ext cx="22281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62B"/>
                </a:solidFill>
                <a:latin typeface="Georgia" pitchFamily="18" charset="0"/>
                <a:ea typeface="Georgia" pitchFamily="18" charset="-122"/>
                <a:cs typeface="Georgia" pitchFamily="18" charset="-120"/>
              </a:rPr>
              <a:t>Optimization</a:t>
            </a:r>
            <a:endParaRPr lang="en-US" sz="1500" dirty="0"/>
          </a:p>
        </p:txBody>
      </p:sp>
      <p:sp>
        <p:nvSpPr>
          <p:cNvPr id="29" name="Text 27"/>
          <p:cNvSpPr/>
          <p:nvPr/>
        </p:nvSpPr>
        <p:spPr>
          <a:xfrm>
            <a:off x="3674533" y="4090529"/>
            <a:ext cx="2228130" cy="45455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B6E"/>
                </a:solidFill>
                <a:latin typeface="Georgia" pitchFamily="18" charset="0"/>
                <a:ea typeface="Georgia" pitchFamily="18" charset="-122"/>
                <a:cs typeface="Georgia" pitchFamily="18" charset="-120"/>
              </a:rPr>
              <a:t>Memory-efficient DP for large sequences</a:t>
            </a:r>
            <a:endParaRPr lang="en-US" sz="1300" dirty="0"/>
          </a:p>
        </p:txBody>
      </p:sp>
      <p:sp>
        <p:nvSpPr>
          <p:cNvPr id="30" name="Shape 28"/>
          <p:cNvSpPr/>
          <p:nvPr/>
        </p:nvSpPr>
        <p:spPr>
          <a:xfrm>
            <a:off x="6175375" y="3324957"/>
            <a:ext cx="2520950" cy="1373584"/>
          </a:xfrm>
          <a:prstGeom prst="roundRect">
            <a:avLst>
              <a:gd name="adj" fmla="val 7166"/>
            </a:avLst>
          </a:prstGeom>
          <a:solidFill>
            <a:srgbClr val="FBF9F4"/>
          </a:solidFill>
          <a:ln w="6350">
            <a:solidFill>
              <a:srgbClr val="D9D4C7"/>
            </a:solidFill>
            <a:prstDash val="solid"/>
          </a:ln>
        </p:spPr>
      </p:sp>
      <p:sp>
        <p:nvSpPr>
          <p:cNvPr id="31" name="Text 29"/>
          <p:cNvSpPr/>
          <p:nvPr/>
        </p:nvSpPr>
        <p:spPr>
          <a:xfrm>
            <a:off x="6354233" y="3503811"/>
            <a:ext cx="222813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07</a:t>
            </a:r>
            <a:endParaRPr lang="en-US" sz="1300" dirty="0"/>
          </a:p>
        </p:txBody>
      </p:sp>
      <p:sp>
        <p:nvSpPr>
          <p:cNvPr id="32" name="Text 30"/>
          <p:cNvSpPr/>
          <p:nvPr/>
        </p:nvSpPr>
        <p:spPr>
          <a:xfrm>
            <a:off x="6354233" y="3798429"/>
            <a:ext cx="22281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62B"/>
                </a:solidFill>
                <a:latin typeface="Georgia" pitchFamily="18" charset="0"/>
                <a:ea typeface="Georgia" pitchFamily="18" charset="-122"/>
                <a:cs typeface="Georgia" pitchFamily="18" charset="-120"/>
              </a:rPr>
              <a:t>Database integration</a:t>
            </a:r>
            <a:endParaRPr lang="en-US" sz="1500" dirty="0"/>
          </a:p>
        </p:txBody>
      </p:sp>
      <p:sp>
        <p:nvSpPr>
          <p:cNvPr id="33" name="Text 31"/>
          <p:cNvSpPr/>
          <p:nvPr/>
        </p:nvSpPr>
        <p:spPr>
          <a:xfrm>
            <a:off x="6354233" y="4090529"/>
            <a:ext cx="2228130" cy="45455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B6E"/>
                </a:solidFill>
                <a:latin typeface="Georgia" pitchFamily="18" charset="0"/>
                <a:ea typeface="Georgia" pitchFamily="18" charset="-122"/>
                <a:cs typeface="Georgia" pitchFamily="18" charset="-120"/>
              </a:rPr>
              <a:t>Compare against biological databases</a:t>
            </a:r>
            <a:endParaRPr lang="en-US" sz="1300" dirty="0"/>
          </a:p>
        </p:txBody>
      </p:sp>
      <p:sp>
        <p:nvSpPr>
          <p:cNvPr id="34" name="Shape 32"/>
          <p:cNvSpPr/>
          <p:nvPr/>
        </p:nvSpPr>
        <p:spPr>
          <a:xfrm>
            <a:off x="8855075" y="3324957"/>
            <a:ext cx="2520950" cy="1373584"/>
          </a:xfrm>
          <a:prstGeom prst="roundRect">
            <a:avLst>
              <a:gd name="adj" fmla="val 7166"/>
            </a:avLst>
          </a:prstGeom>
          <a:solidFill>
            <a:srgbClr val="FBF9F4"/>
          </a:solidFill>
          <a:ln w="6350">
            <a:solidFill>
              <a:srgbClr val="D9D4C7"/>
            </a:solidFill>
            <a:prstDash val="solid"/>
          </a:ln>
        </p:spPr>
      </p:sp>
      <p:sp>
        <p:nvSpPr>
          <p:cNvPr id="35" name="Text 33"/>
          <p:cNvSpPr/>
          <p:nvPr/>
        </p:nvSpPr>
        <p:spPr>
          <a:xfrm>
            <a:off x="9033934" y="3503811"/>
            <a:ext cx="222813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7C7B"/>
                </a:solidFill>
                <a:latin typeface="Georgia" pitchFamily="18" charset="0"/>
                <a:ea typeface="Georgia" pitchFamily="18" charset="-122"/>
                <a:cs typeface="Georgia" pitchFamily="18" charset="-120"/>
              </a:rPr>
              <a:t>08</a:t>
            </a:r>
            <a:endParaRPr lang="en-US" sz="1300" dirty="0"/>
          </a:p>
        </p:txBody>
      </p:sp>
      <p:sp>
        <p:nvSpPr>
          <p:cNvPr id="36" name="Text 34"/>
          <p:cNvSpPr/>
          <p:nvPr/>
        </p:nvSpPr>
        <p:spPr>
          <a:xfrm>
            <a:off x="9033934" y="3798429"/>
            <a:ext cx="22281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62B"/>
                </a:solidFill>
                <a:latin typeface="Georgia" pitchFamily="18" charset="0"/>
                <a:ea typeface="Georgia" pitchFamily="18" charset="-122"/>
                <a:cs typeface="Georgia" pitchFamily="18" charset="-120"/>
              </a:rPr>
              <a:t>Interactive interface</a:t>
            </a:r>
            <a:endParaRPr lang="en-US" sz="1500" dirty="0"/>
          </a:p>
        </p:txBody>
      </p:sp>
      <p:sp>
        <p:nvSpPr>
          <p:cNvPr id="37" name="Text 35"/>
          <p:cNvSpPr/>
          <p:nvPr/>
        </p:nvSpPr>
        <p:spPr>
          <a:xfrm>
            <a:off x="9033934" y="4090529"/>
            <a:ext cx="2228130" cy="45455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B6E"/>
                </a:solidFill>
                <a:latin typeface="Georgia" pitchFamily="18" charset="0"/>
                <a:ea typeface="Georgia" pitchFamily="18" charset="-122"/>
                <a:cs typeface="Georgia" pitchFamily="18" charset="-120"/>
              </a:rPr>
              <a:t>Web or desktop sequence input</a:t>
            </a:r>
            <a:endParaRPr lang="en-US" sz="1300" dirty="0"/>
          </a:p>
        </p:txBody>
      </p:sp>
      <p:sp>
        <p:nvSpPr>
          <p:cNvPr id="38" name="Text 36"/>
          <p:cNvSpPr/>
          <p:nvPr/>
        </p:nvSpPr>
        <p:spPr>
          <a:xfrm>
            <a:off x="812800" y="6238280"/>
            <a:ext cx="4077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DSA-3 · Needleman–Wunsch Sequence Alignment</a:t>
            </a:r>
            <a:endParaRPr lang="en-US" sz="1200" dirty="0"/>
          </a:p>
        </p:txBody>
      </p:sp>
      <p:sp>
        <p:nvSpPr>
          <p:cNvPr id="39" name="Text 37"/>
          <p:cNvSpPr/>
          <p:nvPr/>
        </p:nvSpPr>
        <p:spPr>
          <a:xfrm>
            <a:off x="110617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B6E"/>
                </a:solidFill>
                <a:latin typeface="Georgia" pitchFamily="18" charset="0"/>
                <a:ea typeface="Georgia" pitchFamily="18" charset="-122"/>
                <a:cs typeface="Georgia" pitchFamily="18" charset="-120"/>
              </a:rPr>
              <a:t>9 / 9</a:t>
            </a:r>
            <a:endParaRPr lang="en-US" sz="1200" dirty="0"/>
          </a:p>
        </p:txBody>
      </p:sp>
    </p:spTree>
  </p:cSld>
  <p:clrMapOvr>
    <a:masterClrMapping/>
  </p:clrMapOvr>
</p:sld>
</file>

<file path=ppt/theme/theme1.xml><?xml version="1.0" encoding="utf-8"?>
<a:theme xmlns:a="http://schemas.openxmlformats.org/drawingml/2006/main" name="Global DNA and Protein Sequence Alignment – Needleman–Wunsch">
  <a:themeElements>
    <a:clrScheme name="Global DNA and Protein Sequence Alignment – Needleman–Wunsch">
      <a:dk1>
        <a:srgbClr val="14262B"/>
      </a:dk1>
      <a:lt1>
        <a:srgbClr val="F4F1EA"/>
      </a:lt1>
      <a:dk2>
        <a:srgbClr val="4C595B"/>
      </a:dk2>
      <a:lt2>
        <a:srgbClr val="DEDDD7"/>
      </a:lt2>
      <a:accent1>
        <a:srgbClr val="0E7C7B"/>
      </a:accent1>
      <a:accent2>
        <a:srgbClr val="F2A65A"/>
      </a:accent2>
      <a:accent3>
        <a:srgbClr val="C8553D"/>
      </a:accent3>
      <a:accent4>
        <a:srgbClr val="B7691F"/>
      </a:accent4>
      <a:accent5>
        <a:srgbClr val="5D6B6E"/>
      </a:accent5>
      <a:accent6>
        <a:srgbClr val="C9C4B8"/>
      </a:accent6>
      <a:hlink>
        <a:srgbClr val="0563C1"/>
      </a:hlink>
      <a:folHlink>
        <a:srgbClr val="954F72"/>
      </a:folHlink>
    </a:clrScheme>
    <a:fontScheme name="Global DNA and Protein Sequence Alignment – Needleman–Wunsch">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DNA and Protein Sequence Alignment – Needleman–Wunsch</dc:title>
  <dc:subject/>
  <dc:creator/>
  <cp:lastModifiedBy/>
  <cp:revision>1</cp:revision>
  <dcterms:created xsi:type="dcterms:W3CDTF">2026-10-11T13:22:40Z</dcterms:created>
  <dcterms:modified xsi:type="dcterms:W3CDTF">2026-10-11T13:22:40Z</dcterms:modified>
</cp:coreProperties>
</file>